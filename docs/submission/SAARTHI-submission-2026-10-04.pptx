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a010191c284a32" /><Relationship Type="http://schemas.openxmlformats.org/officeDocument/2006/relationships/extended-properties" Target="/docProps/app.xml" Id="R0c9369505c5a46b7" /><Relationship Type="http://schemas.openxmlformats.org/officeDocument/2006/relationships/officeDocument" Target="/ppt/presentation.xml" Id="R109490e9a42b4ac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8ae483543914473"/>
  </p:sldMasterIdLst>
  <p:notesMasterIdLst>
    <p:notesMasterId xmlns:r="http://schemas.openxmlformats.org/officeDocument/2006/relationships" r:id="Rcad166e1ba3e4435"/>
  </p:notesMasterIdLst>
  <p:sldIdLst>
    <p:sldId xmlns:r="http://schemas.openxmlformats.org/officeDocument/2006/relationships" id="256" r:id="R477df835e2e64af8"/>
    <p:sldId xmlns:r="http://schemas.openxmlformats.org/officeDocument/2006/relationships" id="257" r:id="R6927fbe988aa4f77"/>
    <p:sldId xmlns:r="http://schemas.openxmlformats.org/officeDocument/2006/relationships" id="258" r:id="R415f06a608b04970"/>
    <p:sldId xmlns:r="http://schemas.openxmlformats.org/officeDocument/2006/relationships" id="259" r:id="R52330eeb8d4b46a5"/>
    <p:sldId xmlns:r="http://schemas.openxmlformats.org/officeDocument/2006/relationships" id="260" r:id="R043bedecd4734df0"/>
    <p:sldId xmlns:r="http://schemas.openxmlformats.org/officeDocument/2006/relationships" id="261" r:id="Rbe3b7d2755d54ee7"/>
  </p:sldIdLst>
  <p:sldSz cx="9144000" cy="5143500"/>
  <p:notesSz cx="6858000" cy="9144000"/>
  <p:embeddedFontLst>
    <p:embeddedFont>
      <p:font typeface="Manrope SemiBold"/>
      <p:regular xmlns:r="http://schemas.openxmlformats.org/officeDocument/2006/relationships" r:id="R10d646935c684bb9"/>
      <p:bold xmlns:r="http://schemas.openxmlformats.org/officeDocument/2006/relationships" r:id="Rcbe21ed84bd3431e"/>
    </p:embeddedFont>
    <p:embeddedFont>
      <p:font typeface="Manrope"/>
      <p:regular xmlns:r="http://schemas.openxmlformats.org/officeDocument/2006/relationships" r:id="R8a7a21d265dc45e4"/>
      <p:bold xmlns:r="http://schemas.openxmlformats.org/officeDocument/2006/relationships" r:id="R6c6271c8bb98449a"/>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f7ea0e12916b492f" /><Relationship Type="http://schemas.openxmlformats.org/officeDocument/2006/relationships/slideMaster" Target="/ppt/slideMasters/slideMaster1.xml" Id="R58ae483543914473" /><Relationship Type="http://schemas.openxmlformats.org/officeDocument/2006/relationships/notesMaster" Target="/ppt/notesMasters/notesMaster1.xml" Id="Rcad166e1ba3e4435" /><Relationship Type="http://schemas.openxmlformats.org/officeDocument/2006/relationships/presProps" Target="/ppt/presProps.xml" Id="R5316e5ea57eb450e" /><Relationship Type="http://schemas.openxmlformats.org/officeDocument/2006/relationships/viewProps" Target="/ppt/viewProps.xml" Id="R9f1c7c15b90b425c" /><Relationship Type="http://schemas.openxmlformats.org/officeDocument/2006/relationships/tableStyles" Target="/ppt/tableStyles.xml" Id="R812c22ecc50f4894" /><Relationship Type="http://schemas.openxmlformats.org/officeDocument/2006/relationships/font" Target="/ppt/fonts/font.dat" Id="R10d646935c684bb9" /><Relationship Type="http://schemas.openxmlformats.org/officeDocument/2006/relationships/font" Target="/ppt/fonts/font2.dat" Id="Rcbe21ed84bd3431e" /><Relationship Type="http://schemas.openxmlformats.org/officeDocument/2006/relationships/font" Target="/ppt/fonts/font3.dat" Id="R8a7a21d265dc45e4" /><Relationship Type="http://schemas.openxmlformats.org/officeDocument/2006/relationships/font" Target="/ppt/fonts/font4.dat" Id="R6c6271c8bb98449a" /><Relationship Type="http://schemas.openxmlformats.org/officeDocument/2006/relationships/slide" Target="/ppt/slides/slide1.xml" Id="R477df835e2e64af8" /><Relationship Type="http://schemas.openxmlformats.org/officeDocument/2006/relationships/slide" Target="/ppt/slides/slide2.xml" Id="R6927fbe988aa4f77" /><Relationship Type="http://schemas.openxmlformats.org/officeDocument/2006/relationships/slide" Target="/ppt/slides/slide3.xml" Id="R415f06a608b04970" /><Relationship Type="http://schemas.openxmlformats.org/officeDocument/2006/relationships/slide" Target="/ppt/slides/slide4.xml" Id="R52330eeb8d4b46a5" /><Relationship Type="http://schemas.openxmlformats.org/officeDocument/2006/relationships/slide" Target="/ppt/slides/slide5.xml" Id="R043bedecd4734df0" /><Relationship Type="http://schemas.openxmlformats.org/officeDocument/2006/relationships/slide" Target="/ppt/slides/slide6.xml" Id="Rbe3b7d2755d54e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3b00d07e3146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1371755c9b4ac7" /><Relationship Type="http://schemas.openxmlformats.org/officeDocument/2006/relationships/notesMaster" Target="/ppt/notesMasters/notesMaster1.xml" Id="R31ca7dcddfd24a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2ac4c809e7483a" /><Relationship Type="http://schemas.openxmlformats.org/officeDocument/2006/relationships/notesMaster" Target="/ppt/notesMasters/notesMaster1.xml" Id="R753f1a817ba44e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027bf5995f407a" /><Relationship Type="http://schemas.openxmlformats.org/officeDocument/2006/relationships/notesMaster" Target="/ppt/notesMasters/notesMaster1.xml" Id="R27ffdefad2ed49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3a9dcd199d4f4c" /><Relationship Type="http://schemas.openxmlformats.org/officeDocument/2006/relationships/notesMaster" Target="/ppt/notesMasters/notesMaster1.xml" Id="Rdfa1ba18dd8f47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9906282a514624" /><Relationship Type="http://schemas.openxmlformats.org/officeDocument/2006/relationships/notesMaster" Target="/ppt/notesMasters/notesMaster1.xml" Id="Rcf1f9d169eda47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7314489bbb42dc" /><Relationship Type="http://schemas.openxmlformats.org/officeDocument/2006/relationships/notesMaster" Target="/ppt/notesMasters/notesMaster1.xml" Id="R72f0d02362d144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Cover metadata verified against user-supplied portal screenshot on 4 October 2026. Prepared from the supplied official template.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Persona and scope: README.md; planning/revised-architecture/SPEC.md. This is a coordination workflow. Reduced travel and cancellations are proposed benefits, not measured outcomes.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 backend/sql/agent/saarthi_agent.sql; backend/skills/; evidence/coco/; docs/PLATFORM-FINDINGS.md. Diagram is modular, not a claim of final-account deployment. Patient and reference searches are separate services. CURRENT_USER policies and bound procedures enforce patient scope. New web guard and validator changes require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Evidence: evidence/qa/RELEASE-CHECKPOINT-2026-10-04.md. Python 463 passed, 14 live-dependent skips, 36 subtests. Web 273 passed. Fixture browser E2E 40 passed. ASK query 01c7826c-0004-0d3e-0001-fe5a0016b6d6 returned cited record, one sample 8.9s, not p95. Refusal query 01c78254-0004-0d3e-0001-fe5a0016b416. Simulation source evidence/qa/workflow-simulation-2026-10-04.json: 30 paired cases, seed 20261004, median reduction 52.55 percent from assumed distributions. Actual operator improvement, heldout correctness, cost and hosted release are unmeasured. Engineering checks on synthetic records are not clinical validation.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Walkthrough source: docs/JUDGE-WALKTHROUGH.md and docs/DECK-OUTLINE.md. These are intended demonstration steps, not fresh runtime results. Final account access, public hosting, demo recording, held-out evaluation and portal completion are unresolved. The NY64016 SQL gateway is live. Native AI functions are denied for this trial account. Corporate proxy OCSP incompatibility prevents strict local SDK connection. Hosted access and independent holdout proof are not yet verified.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Repository: https://github.com/DanushArun/patient-360 . Official rubric checked 4 October 2026: https://hack2skill.com/event/cococlihack-gccedition/ . Relevance 30, Technical Execution 40, Completeness 30. Team metadata verified. Final source evidence is in the repository. Hosted access, native execution and recording are outstanding release gates.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dcb395b99740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c35d38dc3f49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f831b9b4221405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10a829a75c2497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4c429d5622443f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371c7e7a7a04a4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55d9b0bcfac43f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dd6ebfba5b34c1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fcae6aa2b5049c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b51b925cb9349a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fc2d1123a1c431f"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B83E9B23-547C-42C3-9F65-B688E3BB824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2" name="Google Shape;12;p3">
            <a:extLst xmlns:a="http://schemas.openxmlformats.org/drawingml/2006/main">
              <a:ext uri="{FF2B5EF4-FFF2-40B4-BE49-F238E27FC236}">
                <a16:creationId xmlns:a16="http://schemas.microsoft.com/office/drawing/2014/main" id="{6FDF5F1E-539F-49B2-B107-92649FA35127}"/>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5200"/>
              <a:buNone/>
              <a:defRPr sz="5200"/>
            </a:lvl1pPr>
            <a:lvl2pPr algn="ctr">
              <a:lnSpc>
                <a:spcPct val="100000"/>
              </a:lnSpc>
              <a:spcBef>
                <a:spcPts val="0"/>
              </a:spcBef>
              <a:spcAft>
                <a:spcPts val="0"/>
              </a:spcAft>
              <a:buSzPts val="5200"/>
              <a:buNone/>
              <a:defRPr sz="5200"/>
            </a:lvl2pPr>
            <a:lvl3pPr algn="ctr">
              <a:lnSpc>
                <a:spcPct val="100000"/>
              </a:lnSpc>
              <a:spcBef>
                <a:spcPts val="0"/>
              </a:spcBef>
              <a:spcAft>
                <a:spcPts val="0"/>
              </a:spcAft>
              <a:buSzPts val="5200"/>
              <a:buNone/>
              <a:defRPr sz="5200"/>
            </a:lvl3pPr>
            <a:lvl4pPr algn="ctr">
              <a:lnSpc>
                <a:spcPct val="100000"/>
              </a:lnSpc>
              <a:spcBef>
                <a:spcPts val="0"/>
              </a:spcBef>
              <a:spcAft>
                <a:spcPts val="0"/>
              </a:spcAft>
              <a:buSzPts val="5200"/>
              <a:buNone/>
              <a:defRPr sz="5200"/>
            </a:lvl4pPr>
            <a:lvl5pPr algn="ctr">
              <a:lnSpc>
                <a:spcPct val="100000"/>
              </a:lnSpc>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p:txBody>
      </p:sp>
      <p:sp>
        <p:nvSpPr>
          <p:cNvPr id="13" name="Google Shape;13;p3">
            <a:extLst xmlns:a="http://schemas.openxmlformats.org/drawingml/2006/main">
              <a:ext uri="{FF2B5EF4-FFF2-40B4-BE49-F238E27FC236}">
                <a16:creationId xmlns:a16="http://schemas.microsoft.com/office/drawing/2014/main" id="{458D3949-80E1-4DC1-9136-DBAE7F892095}"/>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4" name="Google Shape;14;p3">
            <a:extLst xmlns:a="http://schemas.openxmlformats.org/drawingml/2006/main">
              <a:ext uri="{FF2B5EF4-FFF2-40B4-BE49-F238E27FC236}">
                <a16:creationId xmlns:a16="http://schemas.microsoft.com/office/drawing/2014/main" id="{0F9F623E-61CE-4D25-A018-4EB2680D4E6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6" name="Google Shape;16;p4">
            <a:extLst xmlns:a="http://schemas.openxmlformats.org/drawingml/2006/main">
              <a:ext uri="{FF2B5EF4-FFF2-40B4-BE49-F238E27FC236}">
                <a16:creationId xmlns:a16="http://schemas.microsoft.com/office/drawing/2014/main" id="{B7FD1C38-08B1-4C45-84D0-51CD2A308664}"/>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None/>
              <a:defRPr sz="3600"/>
            </a:lvl1pPr>
            <a:lvl2pPr algn="ctr">
              <a:lnSpc>
                <a:spcPct val="100000"/>
              </a:lnSpc>
              <a:spcBef>
                <a:spcPts val="0"/>
              </a:spcBef>
              <a:spcAft>
                <a:spcPts val="0"/>
              </a:spcAft>
              <a:buSzPts val="3600"/>
              <a:buNone/>
              <a:defRPr sz="3600"/>
            </a:lvl2pPr>
            <a:lvl3pPr algn="ctr">
              <a:lnSpc>
                <a:spcPct val="100000"/>
              </a:lnSpc>
              <a:spcBef>
                <a:spcPts val="0"/>
              </a:spcBef>
              <a:spcAft>
                <a:spcPts val="0"/>
              </a:spcAft>
              <a:buSzPts val="3600"/>
              <a:buNone/>
              <a:defRPr sz="3600"/>
            </a:lvl3pPr>
            <a:lvl4pPr algn="ctr">
              <a:lnSpc>
                <a:spcPct val="100000"/>
              </a:lnSpc>
              <a:spcBef>
                <a:spcPts val="0"/>
              </a:spcBef>
              <a:spcAft>
                <a:spcPts val="0"/>
              </a:spcAft>
              <a:buSzPts val="3600"/>
              <a:buNone/>
              <a:defRPr sz="3600"/>
            </a:lvl4pPr>
            <a:lvl5pPr algn="ctr">
              <a:lnSpc>
                <a:spcPct val="100000"/>
              </a:lnSpc>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p:txBody>
      </p:sp>
      <p:sp>
        <p:nvSpPr>
          <p:cNvPr id="17" name="Google Shape;17;p4">
            <a:extLst xmlns:a="http://schemas.openxmlformats.org/drawingml/2006/main">
              <a:ext uri="{FF2B5EF4-FFF2-40B4-BE49-F238E27FC236}">
                <a16:creationId xmlns:a16="http://schemas.microsoft.com/office/drawing/2014/main" id="{9D9A58E0-1B74-456D-BFE0-2CE55F60BAA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9" name="Google Shape;19;p5">
            <a:extLst xmlns:a="http://schemas.openxmlformats.org/drawingml/2006/main">
              <a:ext uri="{FF2B5EF4-FFF2-40B4-BE49-F238E27FC236}">
                <a16:creationId xmlns:a16="http://schemas.microsoft.com/office/drawing/2014/main" id="{3319D21F-783F-4F7C-9F69-463BDF4DC72A}"/>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0" name="Google Shape;20;p5">
            <a:extLst xmlns:a="http://schemas.openxmlformats.org/drawingml/2006/main">
              <a:ext uri="{FF2B5EF4-FFF2-40B4-BE49-F238E27FC236}">
                <a16:creationId xmlns:a16="http://schemas.microsoft.com/office/drawing/2014/main" id="{CA3F6BB1-AE05-44A5-B1AE-B2C68F3E8AF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21" name="Google Shape;21;p5">
            <a:extLst xmlns:a="http://schemas.openxmlformats.org/drawingml/2006/main">
              <a:ext uri="{FF2B5EF4-FFF2-40B4-BE49-F238E27FC236}">
                <a16:creationId xmlns:a16="http://schemas.microsoft.com/office/drawing/2014/main" id="{47DC26FB-ABD3-4AF2-9DFA-DD05BFD0476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3" name="Google Shape;23;p6">
            <a:extLst xmlns:a="http://schemas.openxmlformats.org/drawingml/2006/main">
              <a:ext uri="{FF2B5EF4-FFF2-40B4-BE49-F238E27FC236}">
                <a16:creationId xmlns:a16="http://schemas.microsoft.com/office/drawing/2014/main" id="{D754FAA6-EC8D-4468-BF15-5DE3712A0A3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4" name="Google Shape;24;p6">
            <a:extLst xmlns:a="http://schemas.openxmlformats.org/drawingml/2006/main">
              <a:ext uri="{FF2B5EF4-FFF2-40B4-BE49-F238E27FC236}">
                <a16:creationId xmlns:a16="http://schemas.microsoft.com/office/drawing/2014/main" id="{C808F610-57CA-4611-A780-EDC4FB580096}"/>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5" name="Google Shape;25;p6">
            <a:extLst xmlns:a="http://schemas.openxmlformats.org/drawingml/2006/main">
              <a:ext uri="{FF2B5EF4-FFF2-40B4-BE49-F238E27FC236}">
                <a16:creationId xmlns:a16="http://schemas.microsoft.com/office/drawing/2014/main" id="{D0ECB0C0-A8A8-4099-A63E-5DB83EE3735E}"/>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6" name="Google Shape;26;p6">
            <a:extLst xmlns:a="http://schemas.openxmlformats.org/drawingml/2006/main">
              <a:ext uri="{FF2B5EF4-FFF2-40B4-BE49-F238E27FC236}">
                <a16:creationId xmlns:a16="http://schemas.microsoft.com/office/drawing/2014/main" id="{C7B26E5F-2E00-4A8A-B1E7-C335FFBDA08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8" name="Google Shape;28;p7">
            <a:extLst xmlns:a="http://schemas.openxmlformats.org/drawingml/2006/main">
              <a:ext uri="{FF2B5EF4-FFF2-40B4-BE49-F238E27FC236}">
                <a16:creationId xmlns:a16="http://schemas.microsoft.com/office/drawing/2014/main" id="{A0636DB1-B9C1-4ED1-ADCF-2E6DC9C06B6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9" name="Google Shape;29;p7">
            <a:extLst xmlns:a="http://schemas.openxmlformats.org/drawingml/2006/main">
              <a:ext uri="{FF2B5EF4-FFF2-40B4-BE49-F238E27FC236}">
                <a16:creationId xmlns:a16="http://schemas.microsoft.com/office/drawing/2014/main" id="{69087754-E2AB-436B-933C-91DE159910F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31" name="Google Shape;31;p8">
            <a:extLst xmlns:a="http://schemas.openxmlformats.org/drawingml/2006/main">
              <a:ext uri="{FF2B5EF4-FFF2-40B4-BE49-F238E27FC236}">
                <a16:creationId xmlns:a16="http://schemas.microsoft.com/office/drawing/2014/main" id="{6F3FAAEE-43C6-47C7-8288-08D6F2CB72E5}"/>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32" name="Google Shape;32;p8">
            <a:extLst xmlns:a="http://schemas.openxmlformats.org/drawingml/2006/main">
              <a:ext uri="{FF2B5EF4-FFF2-40B4-BE49-F238E27FC236}">
                <a16:creationId xmlns:a16="http://schemas.microsoft.com/office/drawing/2014/main" id="{2E0A910B-59A7-48C0-9127-8082BE6BB570}"/>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3" name="Google Shape;33;p8">
            <a:extLst xmlns:a="http://schemas.openxmlformats.org/drawingml/2006/main">
              <a:ext uri="{FF2B5EF4-FFF2-40B4-BE49-F238E27FC236}">
                <a16:creationId xmlns:a16="http://schemas.microsoft.com/office/drawing/2014/main" id="{9F74275A-F971-43E3-83E1-5AA4E9465A9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5" name="Google Shape;35;p9">
            <a:extLst xmlns:a="http://schemas.openxmlformats.org/drawingml/2006/main">
              <a:ext uri="{FF2B5EF4-FFF2-40B4-BE49-F238E27FC236}">
                <a16:creationId xmlns:a16="http://schemas.microsoft.com/office/drawing/2014/main" id="{EAA36E83-1139-4675-AF57-B2D402D3DFBD}"/>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SzPts val="4800"/>
              <a:buNone/>
              <a:defRPr sz="4800"/>
            </a:lvl1pPr>
            <a:lvl2pPr algn="l">
              <a:lnSpc>
                <a:spcPct val="100000"/>
              </a:lnSpc>
              <a:spcBef>
                <a:spcPts val="0"/>
              </a:spcBef>
              <a:spcAft>
                <a:spcPts val="0"/>
              </a:spcAft>
              <a:buSzPts val="4800"/>
              <a:buNone/>
              <a:defRPr sz="4800"/>
            </a:lvl2pPr>
            <a:lvl3pPr algn="l">
              <a:lnSpc>
                <a:spcPct val="100000"/>
              </a:lnSpc>
              <a:spcBef>
                <a:spcPts val="0"/>
              </a:spcBef>
              <a:spcAft>
                <a:spcPts val="0"/>
              </a:spcAft>
              <a:buSzPts val="4800"/>
              <a:buNone/>
              <a:defRPr sz="4800"/>
            </a:lvl3pPr>
            <a:lvl4pPr algn="l">
              <a:lnSpc>
                <a:spcPct val="100000"/>
              </a:lnSpc>
              <a:spcBef>
                <a:spcPts val="0"/>
              </a:spcBef>
              <a:spcAft>
                <a:spcPts val="0"/>
              </a:spcAft>
              <a:buSzPts val="4800"/>
              <a:buNone/>
              <a:defRPr sz="4800"/>
            </a:lvl4pPr>
            <a:lvl5pPr algn="l">
              <a:lnSpc>
                <a:spcPct val="100000"/>
              </a:lnSpc>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p:txBody>
      </p:sp>
      <p:sp>
        <p:nvSpPr>
          <p:cNvPr id="36" name="Google Shape;36;p9">
            <a:extLst xmlns:a="http://schemas.openxmlformats.org/drawingml/2006/main">
              <a:ext uri="{FF2B5EF4-FFF2-40B4-BE49-F238E27FC236}">
                <a16:creationId xmlns:a16="http://schemas.microsoft.com/office/drawing/2014/main" id="{D39C7C1E-667E-48B4-BCF8-20FAC3073D1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8" name="Google Shape;38;p10">
            <a:extLst xmlns:a="http://schemas.openxmlformats.org/drawingml/2006/main">
              <a:ext uri="{FF2B5EF4-FFF2-40B4-BE49-F238E27FC236}">
                <a16:creationId xmlns:a16="http://schemas.microsoft.com/office/drawing/2014/main" id="{24F0B1AD-81DF-462E-AF03-B17173B9F4A9}"/>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39" name="Google Shape;39;p10">
            <a:extLst xmlns:a="http://schemas.openxmlformats.org/drawingml/2006/main">
              <a:ext uri="{FF2B5EF4-FFF2-40B4-BE49-F238E27FC236}">
                <a16:creationId xmlns:a16="http://schemas.microsoft.com/office/drawing/2014/main" id="{805FFFBB-5148-46FB-AF76-975D0D81C41F}"/>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4200"/>
              <a:buNone/>
              <a:defRPr sz="4200"/>
            </a:lvl1pPr>
            <a:lvl2pPr algn="ctr">
              <a:lnSpc>
                <a:spcPct val="100000"/>
              </a:lnSpc>
              <a:spcBef>
                <a:spcPts val="0"/>
              </a:spcBef>
              <a:spcAft>
                <a:spcPts val="0"/>
              </a:spcAft>
              <a:buSzPts val="4200"/>
              <a:buNone/>
              <a:defRPr sz="4200"/>
            </a:lvl2pPr>
            <a:lvl3pPr algn="ctr">
              <a:lnSpc>
                <a:spcPct val="100000"/>
              </a:lnSpc>
              <a:spcBef>
                <a:spcPts val="0"/>
              </a:spcBef>
              <a:spcAft>
                <a:spcPts val="0"/>
              </a:spcAft>
              <a:buSzPts val="4200"/>
              <a:buNone/>
              <a:defRPr sz="4200"/>
            </a:lvl3pPr>
            <a:lvl4pPr algn="ctr">
              <a:lnSpc>
                <a:spcPct val="100000"/>
              </a:lnSpc>
              <a:spcBef>
                <a:spcPts val="0"/>
              </a:spcBef>
              <a:spcAft>
                <a:spcPts val="0"/>
              </a:spcAft>
              <a:buSzPts val="4200"/>
              <a:buNone/>
              <a:defRPr sz="4200"/>
            </a:lvl4pPr>
            <a:lvl5pPr algn="ctr">
              <a:lnSpc>
                <a:spcPct val="100000"/>
              </a:lnSpc>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p:txBody>
      </p:sp>
      <p:sp>
        <p:nvSpPr>
          <p:cNvPr id="40" name="Google Shape;40;p10">
            <a:extLst xmlns:a="http://schemas.openxmlformats.org/drawingml/2006/main">
              <a:ext uri="{FF2B5EF4-FFF2-40B4-BE49-F238E27FC236}">
                <a16:creationId xmlns:a16="http://schemas.microsoft.com/office/drawing/2014/main" id="{6B85707A-D769-41F7-B02E-A70795D7F72A}"/>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41" name="Google Shape;41;p10">
            <a:extLst xmlns:a="http://schemas.openxmlformats.org/drawingml/2006/main">
              <a:ext uri="{FF2B5EF4-FFF2-40B4-BE49-F238E27FC236}">
                <a16:creationId xmlns:a16="http://schemas.microsoft.com/office/drawing/2014/main" id="{319C4650-2269-4179-BB68-3C04A60DF97D}"/>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42" name="Google Shape;42;p10">
            <a:extLst xmlns:a="http://schemas.openxmlformats.org/drawingml/2006/main">
              <a:ext uri="{FF2B5EF4-FFF2-40B4-BE49-F238E27FC236}">
                <a16:creationId xmlns:a16="http://schemas.microsoft.com/office/drawing/2014/main" id="{811469F7-0D44-4CD6-B626-FC798A58314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4" name="Google Shape;44;p11">
            <a:extLst xmlns:a="http://schemas.openxmlformats.org/drawingml/2006/main">
              <a:ext uri="{FF2B5EF4-FFF2-40B4-BE49-F238E27FC236}">
                <a16:creationId xmlns:a16="http://schemas.microsoft.com/office/drawing/2014/main" id="{B02DF2EE-4900-42F7-B6D0-E6D89B6C783C}"/>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stStyle>
          <a:p xmlns:a="http://schemas.openxmlformats.org/drawingml/2006/main"/>
        </p:txBody>
      </p:sp>
      <p:sp>
        <p:nvSpPr>
          <p:cNvPr id="45" name="Google Shape;45;p11">
            <a:extLst xmlns:a="http://schemas.openxmlformats.org/drawingml/2006/main">
              <a:ext uri="{FF2B5EF4-FFF2-40B4-BE49-F238E27FC236}">
                <a16:creationId xmlns:a16="http://schemas.microsoft.com/office/drawing/2014/main" id="{F5BBB45E-D761-4A6C-AB64-D3E73A3E150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7" name="Google Shape;47;p12">
            <a:extLst xmlns:a="http://schemas.openxmlformats.org/drawingml/2006/main">
              <a:ext uri="{FF2B5EF4-FFF2-40B4-BE49-F238E27FC236}">
                <a16:creationId xmlns:a16="http://schemas.microsoft.com/office/drawing/2014/main" id="{BFE3F903-564A-4ECA-86B7-C541C6141839}"/>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12000"/>
              <a:buNone/>
              <a:defRPr sz="12000"/>
            </a:lvl1pPr>
            <a:lvl2pPr algn="ctr">
              <a:lnSpc>
                <a:spcPct val="100000"/>
              </a:lnSpc>
              <a:spcBef>
                <a:spcPts val="0"/>
              </a:spcBef>
              <a:spcAft>
                <a:spcPts val="0"/>
              </a:spcAft>
              <a:buSzPts val="12000"/>
              <a:buNone/>
              <a:defRPr sz="12000"/>
            </a:lvl2pPr>
            <a:lvl3pPr algn="ctr">
              <a:lnSpc>
                <a:spcPct val="100000"/>
              </a:lnSpc>
              <a:spcBef>
                <a:spcPts val="0"/>
              </a:spcBef>
              <a:spcAft>
                <a:spcPts val="0"/>
              </a:spcAft>
              <a:buSzPts val="12000"/>
              <a:buNone/>
              <a:defRPr sz="12000"/>
            </a:lvl3pPr>
            <a:lvl4pPr algn="ctr">
              <a:lnSpc>
                <a:spcPct val="100000"/>
              </a:lnSpc>
              <a:spcBef>
                <a:spcPts val="0"/>
              </a:spcBef>
              <a:spcAft>
                <a:spcPts val="0"/>
              </a:spcAft>
              <a:buSzPts val="12000"/>
              <a:buNone/>
              <a:defRPr sz="12000"/>
            </a:lvl4pPr>
            <a:lvl5pPr algn="ctr">
              <a:lnSpc>
                <a:spcPct val="100000"/>
              </a:lnSpc>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r>
              <a:t>xx%</a:t>
            </a:r>
          </a:p>
        </p:txBody>
      </p:sp>
      <p:sp>
        <p:nvSpPr>
          <p:cNvPr id="48" name="Google Shape;48;p12">
            <a:extLst xmlns:a="http://schemas.openxmlformats.org/drawingml/2006/main">
              <a:ext uri="{FF2B5EF4-FFF2-40B4-BE49-F238E27FC236}">
                <a16:creationId xmlns:a16="http://schemas.microsoft.com/office/drawing/2014/main" id="{63D295E2-93A8-48F3-A0E2-B6B8C427121B}"/>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lnSpc>
                <a:spcPct val="115000"/>
              </a:lnSpc>
              <a:spcBef>
                <a:spcPts val="0"/>
              </a:spcBef>
              <a:spcAft>
                <a:spcPts val="0"/>
              </a:spcAft>
              <a:buSzPts val="1800"/>
              <a:buChar char="●"/>
              <a:defRPr/>
            </a:lvl1pPr>
            <a:lvl2pPr marL="914400" indent="-317500" algn="ctr">
              <a:lnSpc>
                <a:spcPct val="115000"/>
              </a:lnSpc>
              <a:spcBef>
                <a:spcPts val="0"/>
              </a:spcBef>
              <a:spcAft>
                <a:spcPts val="0"/>
              </a:spcAft>
              <a:buSzPts val="1400"/>
              <a:buChar char="○"/>
              <a:defRPr/>
            </a:lvl2pPr>
            <a:lvl3pPr marL="1371600" indent="-317500" algn="ctr">
              <a:lnSpc>
                <a:spcPct val="115000"/>
              </a:lnSpc>
              <a:spcBef>
                <a:spcPts val="0"/>
              </a:spcBef>
              <a:spcAft>
                <a:spcPts val="0"/>
              </a:spcAft>
              <a:buSzPts val="1400"/>
              <a:buChar char="■"/>
              <a:defRPr/>
            </a:lvl3pPr>
            <a:lvl4pPr marL="1828800" indent="-317500" algn="ctr">
              <a:lnSpc>
                <a:spcPct val="115000"/>
              </a:lnSpc>
              <a:spcBef>
                <a:spcPts val="0"/>
              </a:spcBef>
              <a:spcAft>
                <a:spcPts val="0"/>
              </a:spcAft>
              <a:buSzPts val="1400"/>
              <a:buChar char="●"/>
              <a:defRPr/>
            </a:lvl4pPr>
            <a:lvl5pPr marL="2286000" indent="-317500" algn="ctr">
              <a:lnSpc>
                <a:spcPct val="115000"/>
              </a:lnSpc>
              <a:spcBef>
                <a:spcPts val="0"/>
              </a:spcBef>
              <a:spcAft>
                <a:spcPts val="0"/>
              </a:spcAft>
              <a:buSzPts val="1400"/>
              <a:buChar char="○"/>
              <a:defRPr/>
            </a:lvl5pPr>
            <a:lvl6pPr marL="2743200" indent="-317500" algn="ctr">
              <a:lnSpc>
                <a:spcPct val="115000"/>
              </a:lnSpc>
              <a:spcBef>
                <a:spcPts val="0"/>
              </a:spcBef>
              <a:spcAft>
                <a:spcPts val="0"/>
              </a:spcAft>
              <a:buSzPts val="1400"/>
              <a:buChar char="■"/>
              <a:defRPr/>
            </a:lvl6pPr>
            <a:lvl7pPr marL="3200400" indent="-317500" algn="ctr">
              <a:lnSpc>
                <a:spcPct val="115000"/>
              </a:lnSpc>
              <a:spcBef>
                <a:spcPts val="0"/>
              </a:spcBef>
              <a:spcAft>
                <a:spcPts val="0"/>
              </a:spcAft>
              <a:buSzPts val="1400"/>
              <a:buChar char="●"/>
              <a:defRPr/>
            </a:lvl7pPr>
            <a:lvl8pPr marL="3657600" indent="-317500" algn="ctr">
              <a:lnSpc>
                <a:spcPct val="115000"/>
              </a:lnSpc>
              <a:spcBef>
                <a:spcPts val="0"/>
              </a:spcBef>
              <a:spcAft>
                <a:spcPts val="0"/>
              </a:spcAft>
              <a:buSzPts val="1400"/>
              <a:buChar char="○"/>
              <a:defRPr/>
            </a:lvl8pPr>
            <a:lvl9pPr marL="4114800" indent="-317500" algn="ctr">
              <a:lnSpc>
                <a:spcPct val="115000"/>
              </a:lnSpc>
              <a:spcBef>
                <a:spcPts val="0"/>
              </a:spcBef>
              <a:spcAft>
                <a:spcPts val="0"/>
              </a:spcAft>
              <a:buSzPts val="1400"/>
              <a:buChar char="■"/>
              <a:defRPr/>
            </a:lvl9pPr>
          </a:lstStyle>
          <a:p xmlns:a="http://schemas.openxmlformats.org/drawingml/2006/main"/>
        </p:txBody>
      </p:sp>
      <p:sp>
        <p:nvSpPr>
          <p:cNvPr id="49" name="Google Shape;49;p12">
            <a:extLst xmlns:a="http://schemas.openxmlformats.org/drawingml/2006/main">
              <a:ext uri="{FF2B5EF4-FFF2-40B4-BE49-F238E27FC236}">
                <a16:creationId xmlns:a16="http://schemas.microsoft.com/office/drawing/2014/main" id="{80FEBC8C-8E82-4DB9-BB13-E31B8353E4B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52e1c8016a4485" /><Relationship Type="http://schemas.openxmlformats.org/officeDocument/2006/relationships/slideLayout" Target="/ppt/slideLayouts/slideLayout1.xml" Id="Ra152adde29724760" /><Relationship Type="http://schemas.openxmlformats.org/officeDocument/2006/relationships/slideLayout" Target="/ppt/slideLayouts/slideLayout2.xml" Id="R6b909b7f6a9b45fd" /><Relationship Type="http://schemas.openxmlformats.org/officeDocument/2006/relationships/slideLayout" Target="/ppt/slideLayouts/slideLayout3.xml" Id="R2f5fe21a7d3f42c1" /><Relationship Type="http://schemas.openxmlformats.org/officeDocument/2006/relationships/slideLayout" Target="/ppt/slideLayouts/slideLayout4.xml" Id="Rfac1aceb2c98454c" /><Relationship Type="http://schemas.openxmlformats.org/officeDocument/2006/relationships/slideLayout" Target="/ppt/slideLayouts/slideLayout5.xml" Id="R82f00537139e41b4" /><Relationship Type="http://schemas.openxmlformats.org/officeDocument/2006/relationships/slideLayout" Target="/ppt/slideLayouts/slideLayout6.xml" Id="Rf491f116729c4874" /><Relationship Type="http://schemas.openxmlformats.org/officeDocument/2006/relationships/slideLayout" Target="/ppt/slideLayouts/slideLayout7.xml" Id="R6fd86e06a115442d" /><Relationship Type="http://schemas.openxmlformats.org/officeDocument/2006/relationships/slideLayout" Target="/ppt/slideLayouts/slideLayout8.xml" Id="R38312ad20df14460" /><Relationship Type="http://schemas.openxmlformats.org/officeDocument/2006/relationships/slideLayout" Target="/ppt/slideLayouts/slideLayout9.xml" Id="R955a95e064b44086" /><Relationship Type="http://schemas.openxmlformats.org/officeDocument/2006/relationships/slideLayout" Target="/ppt/slideLayouts/slideLayout10.xml" Id="R057dba48e93c4144" /><Relationship Type="http://schemas.openxmlformats.org/officeDocument/2006/relationships/slideLayout" Target="/ppt/slideLayouts/slideLayout11.xml" Id="Reca049c360cb4a96"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7037AB33-536B-44F6-A1AC-F054B5017D8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1pPr>
            <a:lvl2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2pPr>
            <a:lvl3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3pPr>
            <a:lvl4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4pPr>
            <a:lvl5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5pPr>
            <a:lvl6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6pPr>
            <a:lvl7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7pPr>
            <a:lvl8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8pPr>
            <a:lvl9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6F2D17C3-0C6B-4AAD-94C1-D19E54E1A4C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Arial"/>
              <a:buChar char="●"/>
              <a:defRPr sz="1800" b="0" i="0" u="none" cap="none">
                <a:solidFill>
                  <a:schemeClr val="dk2"/>
                </a:solidFill>
                <a:latin typeface="Arial"/>
                <a:ea typeface="Arial"/>
                <a:cs typeface="Arial"/>
              </a:defRPr>
            </a:lvl1pPr>
            <a:lvl2pPr marL="914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2pPr>
            <a:lvl3pPr marL="1371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3pPr>
            <a:lvl4pPr marL="1828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4pPr>
            <a:lvl5pPr marL="22860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5pPr>
            <a:lvl6pPr marL="27432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6pPr>
            <a:lvl7pPr marL="3200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7pPr>
            <a:lvl8pPr marL="3657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8pPr>
            <a:lvl9pPr marL="4114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47E5D4B4-A44E-4BF2-A011-E365C16F8BA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152adde29724760"/>
    <p:sldLayoutId xmlns:r="http://schemas.openxmlformats.org/officeDocument/2006/relationships" id="2147483650" r:id="R6b909b7f6a9b45fd"/>
    <p:sldLayoutId xmlns:r="http://schemas.openxmlformats.org/officeDocument/2006/relationships" id="2147483651" r:id="R2f5fe21a7d3f42c1"/>
    <p:sldLayoutId xmlns:r="http://schemas.openxmlformats.org/officeDocument/2006/relationships" id="2147483652" r:id="Rfac1aceb2c98454c"/>
    <p:sldLayoutId xmlns:r="http://schemas.openxmlformats.org/officeDocument/2006/relationships" id="2147483653" r:id="R82f00537139e41b4"/>
    <p:sldLayoutId xmlns:r="http://schemas.openxmlformats.org/officeDocument/2006/relationships" id="2147483654" r:id="Rf491f116729c4874"/>
    <p:sldLayoutId xmlns:r="http://schemas.openxmlformats.org/officeDocument/2006/relationships" id="2147483655" r:id="R6fd86e06a115442d"/>
    <p:sldLayoutId xmlns:r="http://schemas.openxmlformats.org/officeDocument/2006/relationships" id="2147483656" r:id="R38312ad20df14460"/>
    <p:sldLayoutId xmlns:r="http://schemas.openxmlformats.org/officeDocument/2006/relationships" id="2147483657" r:id="R955a95e064b44086"/>
    <p:sldLayoutId xmlns:r="http://schemas.openxmlformats.org/officeDocument/2006/relationships" id="2147483658" r:id="R057dba48e93c4144"/>
    <p:sldLayoutId xmlns:r="http://schemas.openxmlformats.org/officeDocument/2006/relationships" id="2147483659" r:id="Reca049c360cb4a9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6b8a62e1354114" /><Relationship Type="http://schemas.openxmlformats.org/officeDocument/2006/relationships/image" Target="/ppt/media/image.png" Id="R9b8fc3f44b5e4eec" /><Relationship Type="http://schemas.openxmlformats.org/officeDocument/2006/relationships/notesSlide" Target="/ppt/notesSlides/notesSlide1.xml" Id="R78f6e41f8c864f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eda16f79d464d2d" /><Relationship Type="http://schemas.openxmlformats.org/officeDocument/2006/relationships/image" Target="/ppt/media/image2.png" Id="Rf8ad1a28791c4deb" /><Relationship Type="http://schemas.openxmlformats.org/officeDocument/2006/relationships/notesSlide" Target="/ppt/notesSlides/notesSlide2.xml" Id="R2aedc2b2fcf84a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1f4895cf1274499" /><Relationship Type="http://schemas.openxmlformats.org/officeDocument/2006/relationships/image" Target="/ppt/media/image2.png" Id="Rddf82e59b5c34adf" /><Relationship Type="http://schemas.openxmlformats.org/officeDocument/2006/relationships/notesSlide" Target="/ppt/notesSlides/notesSlide3.xml" Id="R376ed63cfce44b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64de0960a947b4" /><Relationship Type="http://schemas.openxmlformats.org/officeDocument/2006/relationships/image" Target="/ppt/media/image2.png" Id="R195bf3fb8ac04930" /><Relationship Type="http://schemas.openxmlformats.org/officeDocument/2006/relationships/notesSlide" Target="/ppt/notesSlides/notesSlide4.xml" Id="R7d55f8cc638b4e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c029d8f4354b22" /><Relationship Type="http://schemas.openxmlformats.org/officeDocument/2006/relationships/image" Target="/ppt/media/image2.png" Id="R42b49e57015e43c0" /><Relationship Type="http://schemas.openxmlformats.org/officeDocument/2006/relationships/notesSlide" Target="/ppt/notesSlides/notesSlide5.xml" Id="Rba6bf97b55b543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f334eae46242d8" /><Relationship Type="http://schemas.openxmlformats.org/officeDocument/2006/relationships/image" Target="/ppt/media/image3.png" Id="Rbf2bd2b9c0864058" /><Relationship Type="http://schemas.openxmlformats.org/officeDocument/2006/relationships/notesSlide" Target="/ppt/notesSlides/notesSlide6.xml" Id="R2253c9d8f011491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0" name="Google Shape;54;p13"/>
          <p:cNvPicPr>
            <a:picLocks xmlns:a="http://schemas.openxmlformats.org/drawingml/2006/main" noChangeAspect="1"/>
          </p:cNvPicPr>
          <p:nvPr/>
        </p:nvPicPr>
        <p:blipFill rotWithShape="1">
          <a:blip xmlns:r="http://schemas.openxmlformats.org/officeDocument/2006/relationships" xmlns:a="http://schemas.openxmlformats.org/drawingml/2006/main" r:embed="R9b8fc3f44b5e4eec">
            <a:alphaModFix/>
          </a:blip>
          <a:srcRect xmlns:a="http://schemas.openxmlformats.org/drawingml/2006/main" l="0" t="0" r="0" b="0"/>
          <a:stretch xmlns:a="http://schemas.openxmlformats.org/drawingml/2006/main"/>
        </p:blipFill>
        <p:spPr>
          <a:xfrm xmlns:a="http://schemas.openxmlformats.org/drawingml/2006/main">
            <a:off x="-12" y="0"/>
            <a:ext cx="9144018" cy="5143501"/>
          </a:xfrm>
          <a:prstGeom xmlns:a="http://schemas.openxmlformats.org/drawingml/2006/main" prst="rect">
            <a:avLst/>
          </a:prstGeom>
          <a:ln xmlns:a="http://schemas.openxmlformats.org/drawingml/2006/main">
            <a:noFill/>
          </a:ln>
        </p:spPr>
      </p:pic>
      <p:sp>
        <p:nvSpPr>
          <p:cNvPr id="55" name="Google Shape;55;p13">
            <a:extLst xmlns:a="http://schemas.openxmlformats.org/drawingml/2006/main">
              <a:ext uri="{FF2B5EF4-FFF2-40B4-BE49-F238E27FC236}">
                <a16:creationId xmlns:a16="http://schemas.microsoft.com/office/drawing/2014/main" id="{E5100024-33C5-43E7-A569-50622453207E}"/>
              </a:ext>
            </a:extLst>
          </p:cNvPr>
          <p:cNvSpPr>
            <a:spLocks xmlns:a="http://schemas.openxmlformats.org/drawingml/2006/main" noGrp="1"/>
          </p:cNvSpPr>
          <p:nvPr/>
        </p:nvSpPr>
        <p:spPr>
          <a:xfrm xmlns:a="http://schemas.openxmlformats.org/drawingml/2006/main">
            <a:off x="402808" y="3192600"/>
            <a:ext cx="7152900" cy="37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6750" tIns="76750" rIns="76750" bIns="76750" anchor="t">
            <a:normAutofit fontScale="100000"/>
          </a:bodyPr>
          <a:lstStyle xmlns:a="http://schemas.openxmlformats.org/drawingml/2006/main"/>
          <a:p xmlns:a="http://schemas.openxmlformats.org/drawingml/2006/main">
            <a:pPr marL="0" marR="0" lvl="0" indent="0" algn="l">
              <a:lnSpc>
                <a:spcPct val="80000"/>
              </a:lnSpc>
              <a:spcBef>
                <a:spcPts val="0"/>
              </a:spcBef>
              <a:spcAft>
                <a:spcPts val="0"/>
              </a:spcAft>
              <a:buClr>
                <a:srgbClr val="000000"/>
              </a:buClr>
              <a:buSzPts val="1343"/>
              <a:buFont typeface="Arial"/>
              <a:buNone/>
            </a:pPr>
            <a:r>
              <a:rPr sz="1343" b="0" i="0" u="none" cap="none">
                <a:solidFill>
                  <a:srgbClr val="202729"/>
                </a:solidFill>
                <a:latin typeface="Manrope SemiBold"/>
                <a:ea typeface="Manrope SemiBold"/>
                <a:cs typeface="Manrope SemiBold"/>
              </a:rPr>
              <a:t>Team Name: hallucination · Project: SAARTHI</a:t>
            </a:r>
            <a:endParaRPr sz="1343" b="0" i="0" u="none" cap="none">
              <a:solidFill>
                <a:srgbClr val="202729"/>
              </a:solidFill>
              <a:latin typeface="Manrope SemiBold"/>
              <a:ea typeface="Manrope SemiBold"/>
              <a:cs typeface="Manrope SemiBold"/>
            </a:endParaRPr>
          </a:p>
        </p:txBody>
      </p:sp>
      <p:sp>
        <p:nvSpPr>
          <p:cNvPr id="56" name="Google Shape;56;p13">
            <a:extLst xmlns:a="http://schemas.openxmlformats.org/drawingml/2006/main">
              <a:ext uri="{FF2B5EF4-FFF2-40B4-BE49-F238E27FC236}">
                <a16:creationId xmlns:a16="http://schemas.microsoft.com/office/drawing/2014/main" id="{992BE402-9D05-4F97-BEFC-6C1FDF8A5D62}"/>
              </a:ext>
            </a:extLst>
          </p:cNvPr>
          <p:cNvSpPr>
            <a:spLocks xmlns:a="http://schemas.openxmlformats.org/drawingml/2006/main" noGrp="1"/>
          </p:cNvSpPr>
          <p:nvPr/>
        </p:nvSpPr>
        <p:spPr>
          <a:xfrm xmlns:a="http://schemas.openxmlformats.org/drawingml/2006/main">
            <a:off x="402788" y="4250161"/>
            <a:ext cx="71529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6750" tIns="76750" rIns="76750" bIns="76750" anchor="t">
            <a:normAutofit fontScale="100000"/>
          </a:bodyPr>
          <a:lstStyle xmlns:a="http://schemas.openxmlformats.org/drawingml/2006/main"/>
          <a:p xmlns:a="http://schemas.openxmlformats.org/drawingml/2006/main">
            <a:pPr marL="0" marR="0" lvl="0" indent="0" algn="l">
              <a:lnSpc>
                <a:spcPct val="70000"/>
              </a:lnSpc>
              <a:spcBef>
                <a:spcPts val="0"/>
              </a:spcBef>
              <a:spcAft>
                <a:spcPts val="0"/>
              </a:spcAft>
              <a:buClr>
                <a:srgbClr val="000000"/>
              </a:buClr>
              <a:buSzPts val="1343"/>
              <a:buFont typeface="Arial"/>
              <a:buNone/>
            </a:pPr>
            <a:r>
              <a:rPr sz="1343" b="0" i="0" u="none" cap="none">
                <a:solidFill>
                  <a:srgbClr val="202729"/>
                </a:solidFill>
                <a:latin typeface="Manrope SemiBold"/>
                <a:ea typeface="Manrope SemiBold"/>
                <a:cs typeface="Manrope SemiBold"/>
              </a:rPr>
              <a:t>Problem Statement: 04 · Patient and Member 360</a:t>
            </a:r>
            <a:endParaRPr sz="1343" b="0" i="0" u="none" cap="none">
              <a:solidFill>
                <a:srgbClr val="202729"/>
              </a:solidFill>
              <a:latin typeface="Manrope SemiBold"/>
              <a:ea typeface="Manrope SemiBold"/>
              <a:cs typeface="Manrope SemiBold"/>
            </a:endParaRPr>
          </a:p>
        </p:txBody>
      </p:sp>
      <p:sp>
        <p:nvSpPr>
          <p:cNvPr id="57" name="Google Shape;57;p13">
            <a:extLst xmlns:a="http://schemas.openxmlformats.org/drawingml/2006/main">
              <a:ext uri="{FF2B5EF4-FFF2-40B4-BE49-F238E27FC236}">
                <a16:creationId xmlns:a16="http://schemas.microsoft.com/office/drawing/2014/main" id="{C3FA3A02-8A4A-4936-B16D-A12C032A6FFE}"/>
              </a:ext>
            </a:extLst>
          </p:cNvPr>
          <p:cNvSpPr>
            <a:spLocks xmlns:a="http://schemas.openxmlformats.org/drawingml/2006/main" noGrp="1"/>
          </p:cNvSpPr>
          <p:nvPr/>
        </p:nvSpPr>
        <p:spPr>
          <a:xfrm xmlns:a="http://schemas.openxmlformats.org/drawingml/2006/main">
            <a:off x="402798" y="3534656"/>
            <a:ext cx="7152900" cy="37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6750" tIns="76750" rIns="76750" bIns="76750" anchor="t">
            <a:normAutofit fontScale="100000"/>
          </a:bodyPr>
          <a:lstStyle xmlns:a="http://schemas.openxmlformats.org/drawingml/2006/main"/>
          <a:p xmlns:a="http://schemas.openxmlformats.org/drawingml/2006/main">
            <a:pPr marL="0" marR="0" lvl="0" indent="0" algn="l">
              <a:lnSpc>
                <a:spcPct val="80000"/>
              </a:lnSpc>
              <a:spcBef>
                <a:spcPts val="0"/>
              </a:spcBef>
              <a:spcAft>
                <a:spcPts val="0"/>
              </a:spcAft>
              <a:buClr>
                <a:srgbClr val="000000"/>
              </a:buClr>
              <a:buSzPts val="1343"/>
              <a:buFont typeface="Arial"/>
              <a:buNone/>
            </a:pPr>
            <a:r>
              <a:rPr sz="1343" b="0" i="0" u="none" cap="none">
                <a:solidFill>
                  <a:srgbClr val="202729"/>
                </a:solidFill>
                <a:latin typeface="Manrope SemiBold"/>
                <a:ea typeface="Manrope SemiBold"/>
                <a:cs typeface="Manrope SemiBold"/>
              </a:rPr>
              <a:t>Team Leader: Daksha D Talekar</a:t>
            </a:r>
            <a:endParaRPr sz="1343" b="0" i="0" u="none" cap="none">
              <a:solidFill>
                <a:srgbClr val="202729"/>
              </a:solidFill>
              <a:latin typeface="Manrope SemiBold"/>
              <a:ea typeface="Manrope SemiBold"/>
              <a:cs typeface="Manrope SemiBold"/>
            </a:endParaRPr>
          </a:p>
        </p:txBody>
      </p:sp>
      <p:sp>
        <p:nvSpPr>
          <p:cNvPr id="58" name="Google Shape;58;p13">
            <a:extLst xmlns:a="http://schemas.openxmlformats.org/drawingml/2006/main">
              <a:ext uri="{FF2B5EF4-FFF2-40B4-BE49-F238E27FC236}">
                <a16:creationId xmlns:a16="http://schemas.microsoft.com/office/drawing/2014/main" id="{486C22F6-BAB9-43AC-BF72-B1899C27CB8F}"/>
              </a:ext>
            </a:extLst>
          </p:cNvPr>
          <p:cNvSpPr>
            <a:spLocks xmlns:a="http://schemas.openxmlformats.org/drawingml/2006/main" noGrp="1"/>
          </p:cNvSpPr>
          <p:nvPr/>
        </p:nvSpPr>
        <p:spPr>
          <a:xfrm xmlns:a="http://schemas.openxmlformats.org/drawingml/2006/main">
            <a:off x="402788" y="3907261"/>
            <a:ext cx="71529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6750" tIns="76750" rIns="76750" bIns="76750" anchor="t">
            <a:normAutofit fontScale="100000"/>
          </a:bodyPr>
          <a:lstStyle xmlns:a="http://schemas.openxmlformats.org/drawingml/2006/main"/>
          <a:p xmlns:a="http://schemas.openxmlformats.org/drawingml/2006/main">
            <a:pPr marL="0" marR="0" lvl="0" indent="0" algn="l">
              <a:lnSpc>
                <a:spcPct val="70000"/>
              </a:lnSpc>
              <a:spcBef>
                <a:spcPts val="0"/>
              </a:spcBef>
              <a:spcAft>
                <a:spcPts val="0"/>
              </a:spcAft>
              <a:buClr>
                <a:srgbClr val="000000"/>
              </a:buClr>
              <a:buSzPts val="1343"/>
              <a:buFont typeface="Arial"/>
              <a:buNone/>
            </a:pPr>
            <a:r>
              <a:rPr sz="1343" b="0" i="0" u="none" cap="none">
                <a:solidFill>
                  <a:srgbClr val="202729"/>
                </a:solidFill>
                <a:latin typeface="Manrope SemiBold"/>
                <a:ea typeface="Manrope SemiBold"/>
                <a:cs typeface="Manrope SemiBold"/>
              </a:rPr>
              <a:t>Team Size: 3</a:t>
            </a:r>
            <a:endParaRPr sz="1343" b="0" i="0" u="none" cap="none">
              <a:solidFill>
                <a:srgbClr val="202729"/>
              </a:solidFill>
              <a:latin typeface="Manrope SemiBold"/>
              <a:ea typeface="Manrope SemiBold"/>
              <a:cs typeface="Manrope SemiBold"/>
            </a:endParaRPr>
          </a:p>
        </p:txBody>
      </p:sp>
    </p:spTree>
    <p:extLst>
      <p:ext uri="{BB962C8B-B14F-4D97-AF65-F5344CB8AC3E}">
        <p14:creationId xmlns:p14="http://schemas.microsoft.com/office/powerpoint/2010/main" val="7382906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73" name="Google Shape;63;p14"/>
          <p:cNvPicPr>
            <a:picLocks xmlns:a="http://schemas.openxmlformats.org/drawingml/2006/main" noChangeAspect="1"/>
          </p:cNvPicPr>
          <p:nvPr/>
        </p:nvPicPr>
        <p:blipFill rotWithShape="1">
          <a:blip xmlns:r="http://schemas.openxmlformats.org/officeDocument/2006/relationships" xmlns:a="http://schemas.openxmlformats.org/drawingml/2006/main" r:embed="Rf8ad1a28791c4deb">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
        <p:nvSpPr>
          <p:cNvPr id="64" name="Google Shape;64;p14">
            <a:extLst xmlns:a="http://schemas.openxmlformats.org/drawingml/2006/main">
              <a:ext uri="{FF2B5EF4-FFF2-40B4-BE49-F238E27FC236}">
                <a16:creationId xmlns:a16="http://schemas.microsoft.com/office/drawing/2014/main" id="{785ED649-C492-424C-9CD9-B9818CEAF1C2}"/>
              </a:ext>
            </a:extLst>
          </p:cNvPr>
          <p:cNvSpPr>
            <a:spLocks xmlns:a="http://schemas.openxmlformats.org/drawingml/2006/main" noGrp="1"/>
          </p:cNvSpPr>
          <p:nvPr/>
        </p:nvSpPr>
        <p:spPr>
          <a:xfrm xmlns:a="http://schemas.openxmlformats.org/drawingml/2006/main">
            <a:off x="329100" y="600420"/>
            <a:ext cx="8485800" cy="4296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marR="0" lvl="0" indent="0" algn="l">
              <a:lnSpc>
                <a:spcPct val="115000"/>
              </a:lnSpc>
              <a:spcBef>
                <a:spcPts val="0"/>
              </a:spcBef>
              <a:spcAft>
                <a:spcPts val="0"/>
              </a:spcAft>
              <a:buClr>
                <a:srgbClr val="000000"/>
              </a:buClr>
              <a:buSzPct val="55000"/>
              <a:buFont typeface="Arial"/>
              <a:buNone/>
            </a:pPr>
            <a:r>
              <a:rPr sz="1700" b="1" i="0" u="none" cap="none">
                <a:solidFill>
                  <a:srgbClr val="202729"/>
                </a:solidFill>
                <a:latin typeface="Manrope"/>
                <a:ea typeface="Manrope"/>
                <a:cs typeface="Manrope"/>
              </a:rPr>
              <a:t/>
            </a:r>
            <a:endParaRPr sz="1442" b="1" i="1" u="none" cap="none">
              <a:solidFill>
                <a:srgbClr val="202729"/>
              </a:solidFill>
              <a:latin typeface="Manrope"/>
              <a:ea typeface="Manrope"/>
              <a:cs typeface="Manrope"/>
            </a:endParaRPr>
          </a:p>
        </p:txBody>
      </p:sp>
      <p:sp>
        <p:nvSpPr>
          <p:cNvPr id="66" name="">
            <a:extLst xmlns:a="http://schemas.openxmlformats.org/drawingml/2006/main">
              <a:ext uri="{FF2B5EF4-FFF2-40B4-BE49-F238E27FC236}">
                <a16:creationId xmlns:a16="http://schemas.microsoft.com/office/drawing/2014/main" id="{E26B385A-7566-4348-9BA9-776D7B9F691D}"/>
              </a:ext>
            </a:extLst>
          </p:cNvPr>
          <p:cNvSpPr>
            <a:spLocks xmlns:a="http://schemas.openxmlformats.org/drawingml/2006/main" noGrp="1"/>
          </p:cNvSpPr>
          <p:nvPr/>
        </p:nvSpPr>
        <p:spPr>
          <a:xfrm xmlns:a="http://schemas.openxmlformats.org/drawingml/2006/main">
            <a:off x="400050" y="685800"/>
            <a:ext cx="828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735"/>
                </a:solidFill>
                <a:latin typeface="Manrope SemiBold"/>
                <a:ea typeface="Manrope SemiBold"/>
                <a:cs typeface="Manrope SemiBold"/>
              </a:defRPr>
            </a:pPr>
            <a:r>
              <a:rPr sz="2550" b="1">
                <a:solidFill>
                  <a:srgbClr val="142735"/>
                </a:solidFill>
                <a:latin typeface="Manrope SemiBold"/>
                <a:ea typeface="Manrope SemiBold"/>
                <a:cs typeface="Manrope SemiBold"/>
              </a:rPr>
              <a:t>Care coordination before the next visit</a:t>
            </a:r>
          </a:p>
        </p:txBody>
      </p:sp>
      <p:sp>
        <p:nvSpPr>
          <p:cNvPr id="67" name="">
            <a:extLst xmlns:a="http://schemas.openxmlformats.org/drawingml/2006/main">
              <a:ext uri="{FF2B5EF4-FFF2-40B4-BE49-F238E27FC236}">
                <a16:creationId xmlns:a16="http://schemas.microsoft.com/office/drawing/2014/main" id="{384B14AF-1652-408C-9F2E-2CDB3F901FA3}"/>
              </a:ext>
            </a:extLst>
          </p:cNvPr>
          <p:cNvSpPr>
            <a:spLocks xmlns:a="http://schemas.openxmlformats.org/drawingml/2006/main" noGrp="1"/>
          </p:cNvSpPr>
          <p:nvPr/>
        </p:nvSpPr>
        <p:spPr>
          <a:xfrm xmlns:a="http://schemas.openxmlformats.org/drawingml/2006/main">
            <a:off x="400050" y="14287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735"/>
                </a:solidFill>
                <a:latin typeface="Manrope SemiBold"/>
                <a:ea typeface="Manrope SemiBold"/>
                <a:cs typeface="Manrope SemiBold"/>
              </a:defRPr>
            </a:pPr>
            <a:r>
              <a:rPr sz="1800" b="1">
                <a:solidFill>
                  <a:srgbClr val="142735"/>
                </a:solidFill>
                <a:latin typeface="Manrope SemiBold"/>
                <a:ea typeface="Manrope SemiBold"/>
                <a:cs typeface="Manrope SemiBold"/>
              </a:rPr>
              <a:t>The user</a:t>
            </a:r>
          </a:p>
        </p:txBody>
      </p:sp>
      <p:sp>
        <p:nvSpPr>
          <p:cNvPr id="68" name="">
            <a:extLst xmlns:a="http://schemas.openxmlformats.org/drawingml/2006/main">
              <a:ext uri="{FF2B5EF4-FFF2-40B4-BE49-F238E27FC236}">
                <a16:creationId xmlns:a16="http://schemas.microsoft.com/office/drawing/2014/main" id="{84A81189-5F74-4039-89A0-501882ECFEBB}"/>
              </a:ext>
            </a:extLst>
          </p:cNvPr>
          <p:cNvSpPr>
            <a:spLocks xmlns:a="http://schemas.openxmlformats.org/drawingml/2006/main" noGrp="1"/>
          </p:cNvSpPr>
          <p:nvPr/>
        </p:nvSpPr>
        <p:spPr>
          <a:xfrm xmlns:a="http://schemas.openxmlformats.org/drawingml/2006/main">
            <a:off x="400050" y="1857375"/>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735"/>
                </a:solidFill>
                <a:latin typeface="Manrope SemiBold"/>
                <a:ea typeface="Manrope SemiBold"/>
                <a:cs typeface="Manrope SemiBold"/>
              </a:defRPr>
            </a:pPr>
            <a:r>
              <a:rPr sz="1725" b="0">
                <a:solidFill>
                  <a:srgbClr val="142735"/>
                </a:solidFill>
                <a:latin typeface="Manrope SemiBold"/>
                <a:ea typeface="Manrope SemiBold"/>
                <a:cs typeface="Manrope SemiBold"/>
              </a:rPr>
              <a:t>A day-care coordinator checking whether the records and authorisations for a cancer visit are complete.</a:t>
            </a:r>
          </a:p>
        </p:txBody>
      </p:sp>
      <p:sp>
        <p:nvSpPr>
          <p:cNvPr id="69" name="">
            <a:extLst xmlns:a="http://schemas.openxmlformats.org/drawingml/2006/main">
              <a:ext uri="{FF2B5EF4-FFF2-40B4-BE49-F238E27FC236}">
                <a16:creationId xmlns:a16="http://schemas.microsoft.com/office/drawing/2014/main" id="{ED0A27F1-6B34-4C7B-AF77-B4922ED3DE2F}"/>
              </a:ext>
            </a:extLst>
          </p:cNvPr>
          <p:cNvSpPr>
            <a:spLocks xmlns:a="http://schemas.openxmlformats.org/drawingml/2006/main" noGrp="1"/>
          </p:cNvSpPr>
          <p:nvPr/>
        </p:nvSpPr>
        <p:spPr>
          <a:xfrm xmlns:a="http://schemas.openxmlformats.org/drawingml/2006/main">
            <a:off x="4667250" y="14287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735"/>
                </a:solidFill>
                <a:latin typeface="Manrope SemiBold"/>
                <a:ea typeface="Manrope SemiBold"/>
                <a:cs typeface="Manrope SemiBold"/>
              </a:defRPr>
            </a:pPr>
            <a:r>
              <a:rPr sz="1800" b="1">
                <a:solidFill>
                  <a:srgbClr val="142735"/>
                </a:solidFill>
                <a:latin typeface="Manrope SemiBold"/>
                <a:ea typeface="Manrope SemiBold"/>
                <a:cs typeface="Manrope SemiBold"/>
              </a:rPr>
              <a:t>The work</a:t>
            </a:r>
          </a:p>
        </p:txBody>
      </p:sp>
      <p:sp>
        <p:nvSpPr>
          <p:cNvPr id="70" name="">
            <a:extLst xmlns:a="http://schemas.openxmlformats.org/drawingml/2006/main">
              <a:ext uri="{FF2B5EF4-FFF2-40B4-BE49-F238E27FC236}">
                <a16:creationId xmlns:a16="http://schemas.microsoft.com/office/drawing/2014/main" id="{060484B9-CB97-4007-9A74-2489A6E89E79}"/>
              </a:ext>
            </a:extLst>
          </p:cNvPr>
          <p:cNvSpPr>
            <a:spLocks xmlns:a="http://schemas.openxmlformats.org/drawingml/2006/main" noGrp="1"/>
          </p:cNvSpPr>
          <p:nvPr/>
        </p:nvSpPr>
        <p:spPr>
          <a:xfrm xmlns:a="http://schemas.openxmlformats.org/drawingml/2006/main">
            <a:off x="4667250" y="1857375"/>
            <a:ext cx="3905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735"/>
                </a:solidFill>
                <a:latin typeface="Manrope SemiBold"/>
                <a:ea typeface="Manrope SemiBold"/>
                <a:cs typeface="Manrope SemiBold"/>
              </a:defRPr>
            </a:pPr>
            <a:r>
              <a:rPr sz="1725" b="0">
                <a:solidFill>
                  <a:srgbClr val="142735"/>
                </a:solidFill>
                <a:latin typeface="Manrope SemiBold"/>
                <a:ea typeface="Manrope SemiBold"/>
                <a:cs typeface="Manrope SemiBold"/>
              </a:rPr>
              <a:t>Reconcile structured records with reports and coverage letters. Identify missing and conflicting evidence. Prepare a follow-up for the treating practitioner.</a:t>
            </a:r>
          </a:p>
        </p:txBody>
      </p:sp>
      <p:sp>
        <p:nvSpPr>
          <p:cNvPr id="71" name="">
            <a:extLst xmlns:a="http://schemas.openxmlformats.org/drawingml/2006/main">
              <a:ext uri="{FF2B5EF4-FFF2-40B4-BE49-F238E27FC236}">
                <a16:creationId xmlns:a16="http://schemas.microsoft.com/office/drawing/2014/main" id="{9AA09E12-7894-49F1-A7DD-54CC44A9E97E}"/>
              </a:ext>
            </a:extLst>
          </p:cNvPr>
          <p:cNvSpPr>
            <a:spLocks xmlns:a="http://schemas.openxmlformats.org/drawingml/2006/main" noGrp="1"/>
          </p:cNvSpPr>
          <p:nvPr/>
        </p:nvSpPr>
        <p:spPr>
          <a:xfrm xmlns:a="http://schemas.openxmlformats.org/drawingml/2006/main">
            <a:off x="400050" y="3667125"/>
            <a:ext cx="809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735"/>
                </a:solidFill>
                <a:latin typeface="Manrope SemiBold"/>
                <a:ea typeface="Manrope SemiBold"/>
                <a:cs typeface="Manrope SemiBold"/>
              </a:defRPr>
            </a:pPr>
            <a:r>
              <a:rPr sz="2100" b="1">
                <a:solidFill>
                  <a:srgbClr val="142735"/>
                </a:solidFill>
                <a:latin typeface="Manrope SemiBold"/>
                <a:ea typeface="Manrope SemiBold"/>
                <a:cs typeface="Manrope SemiBold"/>
              </a:rPr>
              <a:t>SAARTHI makes every record check traceable to a versioned SQL rule and its source.</a:t>
            </a:r>
          </a:p>
        </p:txBody>
      </p:sp>
      <p:sp>
        <p:nvSpPr>
          <p:cNvPr id="72" name="">
            <a:extLst xmlns:a="http://schemas.openxmlformats.org/drawingml/2006/main">
              <a:ext uri="{FF2B5EF4-FFF2-40B4-BE49-F238E27FC236}">
                <a16:creationId xmlns:a16="http://schemas.microsoft.com/office/drawing/2014/main" id="{6942270D-1828-4FFC-B8E1-557522D55B2C}"/>
              </a:ext>
            </a:extLst>
          </p:cNvPr>
          <p:cNvSpPr>
            <a:spLocks xmlns:a="http://schemas.openxmlformats.org/drawingml/2006/main" noGrp="1"/>
          </p:cNvSpPr>
          <p:nvPr/>
        </p:nvSpPr>
        <p:spPr>
          <a:xfrm xmlns:a="http://schemas.openxmlformats.org/drawingml/2006/main">
            <a:off x="400050" y="455295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42735"/>
                </a:solidFill>
                <a:latin typeface="Manrope SemiBold"/>
                <a:ea typeface="Manrope SemiBold"/>
                <a:cs typeface="Manrope SemiBold"/>
              </a:defRPr>
            </a:pPr>
            <a:r>
              <a:rPr sz="1275" b="0">
                <a:solidFill>
                  <a:srgbClr val="142735"/>
                </a:solidFill>
                <a:latin typeface="Manrope SemiBold"/>
                <a:ea typeface="Manrope SemiBold"/>
                <a:cs typeface="Manrope SemiBold"/>
              </a:rPr>
              <a:t>Clinical judgment stays with the treating practitioner. Synthetic patients only.</a:t>
            </a:r>
          </a:p>
        </p:txBody>
      </p:sp>
    </p:spTree>
    <p:extLst>
      <p:ext uri="{BB962C8B-B14F-4D97-AF65-F5344CB8AC3E}">
        <p14:creationId xmlns:p14="http://schemas.microsoft.com/office/powerpoint/2010/main" val="206245382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6" name="Google Shape;69;p15"/>
          <p:cNvPicPr>
            <a:picLocks xmlns:a="http://schemas.openxmlformats.org/drawingml/2006/main" noChangeAspect="1"/>
          </p:cNvPicPr>
          <p:nvPr/>
        </p:nvPicPr>
        <p:blipFill rotWithShape="1">
          <a:blip xmlns:r="http://schemas.openxmlformats.org/officeDocument/2006/relationships" xmlns:a="http://schemas.openxmlformats.org/drawingml/2006/main" r:embed="Rddf82e59b5c34adf">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
        <p:nvSpPr>
          <p:cNvPr id="2" name="">
            <a:extLst xmlns:a="http://schemas.openxmlformats.org/drawingml/2006/main">
              <a:ext uri="{FF2B5EF4-FFF2-40B4-BE49-F238E27FC236}">
                <a16:creationId xmlns:a16="http://schemas.microsoft.com/office/drawing/2014/main" id="{0D19F1B1-4088-466D-A5CA-194E8A773C72}"/>
              </a:ext>
            </a:extLst>
          </p:cNvPr>
          <p:cNvSpPr>
            <a:spLocks xmlns:a="http://schemas.openxmlformats.org/drawingml/2006/main" noGrp="1"/>
          </p:cNvSpPr>
          <p:nvPr/>
        </p:nvSpPr>
        <p:spPr>
          <a:xfrm xmlns:a="http://schemas.openxmlformats.org/drawingml/2006/main">
            <a:off x="400050" y="685800"/>
            <a:ext cx="828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735"/>
                </a:solidFill>
                <a:latin typeface="Manrope SemiBold"/>
                <a:ea typeface="Manrope SemiBold"/>
                <a:cs typeface="Manrope SemiBold"/>
              </a:defRPr>
            </a:pPr>
            <a:r>
              <a:rPr sz="2550" b="1">
                <a:solidFill>
                  <a:srgbClr val="142735"/>
                </a:solidFill>
                <a:latin typeface="Manrope SemiBold"/>
                <a:ea typeface="Manrope SemiBold"/>
                <a:cs typeface="Manrope SemiBold"/>
              </a:rPr>
              <a:t>Evidence architecture</a:t>
            </a:r>
          </a:p>
        </p:txBody>
      </p:sp>
      <p:sp>
        <p:nvSpPr>
          <p:cNvPr id="3" name="">
            <a:extLst xmlns:a="http://schemas.openxmlformats.org/drawingml/2006/main">
              <a:ext uri="{FF2B5EF4-FFF2-40B4-BE49-F238E27FC236}">
                <a16:creationId xmlns:a16="http://schemas.microsoft.com/office/drawing/2014/main" id="{2393C919-D66C-42D5-9898-59AF17C082F9}"/>
              </a:ext>
            </a:extLst>
          </p:cNvPr>
          <p:cNvSpPr>
            <a:spLocks xmlns:a="http://schemas.openxmlformats.org/drawingml/2006/main" noGrp="1"/>
          </p:cNvSpPr>
          <p:nvPr/>
        </p:nvSpPr>
        <p:spPr>
          <a:xfrm xmlns:a="http://schemas.openxmlformats.org/drawingml/2006/main">
            <a:off x="400050" y="1428750"/>
            <a:ext cx="2333625" cy="762000"/>
          </a:xfrm>
          <a:prstGeom xmlns:a="http://schemas.openxmlformats.org/drawingml/2006/main" prst="rect">
            <a:avLst/>
          </a:prstGeom>
          <a:solidFill xmlns:a="http://schemas.openxmlformats.org/drawingml/2006/main">
            <a:srgbClr val="F0F8FC"/>
          </a:solidFill>
          <a:ln xmlns:a="http://schemas.openxmlformats.org/drawingml/2006/main" w="9525">
            <a:solidFill>
              <a:srgbClr val="249BCC"/>
            </a:solidFill>
          </a:ln>
        </p:spPr>
        <p:txBody>
          <a:bodyPr xmlns:a="http://schemas.openxmlformats.org/drawingml/2006/main">
            <a:noAutofit/>
          </a:bodyPr>
          <a:lstStyle xmlns:a="http://schemas.openxmlformats.org/drawingml/2006/main"/>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Structured records</a:t>
            </a:r>
          </a:p>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EHR · FHIR · claims</a:t>
            </a:r>
          </a:p>
        </p:txBody>
      </p:sp>
      <p:sp>
        <p:nvSpPr>
          <p:cNvPr id="4" name="">
            <a:extLst xmlns:a="http://schemas.openxmlformats.org/drawingml/2006/main">
              <a:ext uri="{FF2B5EF4-FFF2-40B4-BE49-F238E27FC236}">
                <a16:creationId xmlns:a16="http://schemas.microsoft.com/office/drawing/2014/main" id="{47C6DBF6-6529-470E-B980-CDAA16C2DA08}"/>
              </a:ext>
            </a:extLst>
          </p:cNvPr>
          <p:cNvSpPr>
            <a:spLocks xmlns:a="http://schemas.openxmlformats.org/drawingml/2006/main" noGrp="1"/>
          </p:cNvSpPr>
          <p:nvPr/>
        </p:nvSpPr>
        <p:spPr>
          <a:xfrm xmlns:a="http://schemas.openxmlformats.org/drawingml/2006/main">
            <a:off x="3333750" y="1428750"/>
            <a:ext cx="2476500" cy="762000"/>
          </a:xfrm>
          <a:prstGeom xmlns:a="http://schemas.openxmlformats.org/drawingml/2006/main" prst="rect">
            <a:avLst/>
          </a:prstGeom>
          <a:solidFill xmlns:a="http://schemas.openxmlformats.org/drawingml/2006/main">
            <a:srgbClr val="F0F8FC"/>
          </a:solidFill>
          <a:ln xmlns:a="http://schemas.openxmlformats.org/drawingml/2006/main" w="9525">
            <a:solidFill>
              <a:srgbClr val="249BCC"/>
            </a:solidFill>
          </a:ln>
        </p:spPr>
        <p:txBody>
          <a:bodyPr xmlns:a="http://schemas.openxmlformats.org/drawingml/2006/main">
            <a:noAutofit/>
          </a:bodyPr>
          <a:lstStyle xmlns:a="http://schemas.openxmlformats.org/drawingml/2006/main"/>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Snowflake SQL</a:t>
            </a:r>
          </a:p>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Events + versioned rules</a:t>
            </a:r>
          </a:p>
        </p:txBody>
      </p:sp>
      <p:sp>
        <p:nvSpPr>
          <p:cNvPr id="5" name="">
            <a:extLst xmlns:a="http://schemas.openxmlformats.org/drawingml/2006/main">
              <a:ext uri="{FF2B5EF4-FFF2-40B4-BE49-F238E27FC236}">
                <a16:creationId xmlns:a16="http://schemas.microsoft.com/office/drawing/2014/main" id="{B05F5B5A-809C-4F1B-BDB2-EBACBC567593}"/>
              </a:ext>
            </a:extLst>
          </p:cNvPr>
          <p:cNvSpPr>
            <a:spLocks xmlns:a="http://schemas.openxmlformats.org/drawingml/2006/main" noGrp="1"/>
          </p:cNvSpPr>
          <p:nvPr/>
        </p:nvSpPr>
        <p:spPr>
          <a:xfrm xmlns:a="http://schemas.openxmlformats.org/drawingml/2006/main">
            <a:off x="6400800" y="1428750"/>
            <a:ext cx="2333625" cy="762000"/>
          </a:xfrm>
          <a:prstGeom xmlns:a="http://schemas.openxmlformats.org/drawingml/2006/main" prst="rect">
            <a:avLst/>
          </a:prstGeom>
          <a:solidFill xmlns:a="http://schemas.openxmlformats.org/drawingml/2006/main">
            <a:srgbClr val="F0F8FC"/>
          </a:solidFill>
          <a:ln xmlns:a="http://schemas.openxmlformats.org/drawingml/2006/main" w="9525">
            <a:solidFill>
              <a:srgbClr val="249BCC"/>
            </a:solidFill>
          </a:ln>
        </p:spPr>
        <p:txBody>
          <a:bodyPr xmlns:a="http://schemas.openxmlformats.org/drawingml/2006/main">
            <a:noAutofit/>
          </a:bodyPr>
          <a:lstStyle xmlns:a="http://schemas.openxmlformats.org/drawingml/2006/main"/>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Guarded record answer</a:t>
            </a:r>
          </a:p>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Scope + clocks + validator</a:t>
            </a:r>
          </a:p>
        </p:txBody>
      </p:sp>
      <p:sp>
        <p:nvSpPr>
          <p:cNvPr id="6" name="">
            <a:extLst xmlns:a="http://schemas.openxmlformats.org/drawingml/2006/main">
              <a:ext uri="{FF2B5EF4-FFF2-40B4-BE49-F238E27FC236}">
                <a16:creationId xmlns:a16="http://schemas.microsoft.com/office/drawing/2014/main" id="{45571F87-FF07-4391-B022-F7DE1D5D1A4C}"/>
              </a:ext>
            </a:extLst>
          </p:cNvPr>
          <p:cNvSpPr>
            <a:spLocks xmlns:a="http://schemas.openxmlformats.org/drawingml/2006/main" noGrp="1"/>
          </p:cNvSpPr>
          <p:nvPr/>
        </p:nvSpPr>
        <p:spPr>
          <a:xfrm xmlns:a="http://schemas.openxmlformats.org/drawingml/2006/main">
            <a:off x="400050" y="2647950"/>
            <a:ext cx="2333625" cy="762000"/>
          </a:xfrm>
          <a:prstGeom xmlns:a="http://schemas.openxmlformats.org/drawingml/2006/main" prst="rect">
            <a:avLst/>
          </a:prstGeom>
          <a:solidFill xmlns:a="http://schemas.openxmlformats.org/drawingml/2006/main">
            <a:srgbClr val="F0F8FC"/>
          </a:solidFill>
          <a:ln xmlns:a="http://schemas.openxmlformats.org/drawingml/2006/main" w="9525">
            <a:solidFill>
              <a:srgbClr val="249BCC"/>
            </a:solidFill>
          </a:ln>
        </p:spPr>
        <p:txBody>
          <a:bodyPr xmlns:a="http://schemas.openxmlformats.org/drawingml/2006/main">
            <a:noAutofit/>
          </a:bodyPr>
          <a:lstStyle xmlns:a="http://schemas.openxmlformats.org/drawingml/2006/main"/>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Reports and letters</a:t>
            </a:r>
          </a:p>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Synthetic PDFs</a:t>
            </a:r>
          </a:p>
        </p:txBody>
      </p:sp>
      <p:sp>
        <p:nvSpPr>
          <p:cNvPr id="7" name="">
            <a:extLst xmlns:a="http://schemas.openxmlformats.org/drawingml/2006/main">
              <a:ext uri="{FF2B5EF4-FFF2-40B4-BE49-F238E27FC236}">
                <a16:creationId xmlns:a16="http://schemas.microsoft.com/office/drawing/2014/main" id="{73DD2B62-9CC3-4F14-895C-85D06DB1DCAB}"/>
              </a:ext>
            </a:extLst>
          </p:cNvPr>
          <p:cNvSpPr>
            <a:spLocks xmlns:a="http://schemas.openxmlformats.org/drawingml/2006/main" noGrp="1"/>
          </p:cNvSpPr>
          <p:nvPr/>
        </p:nvSpPr>
        <p:spPr>
          <a:xfrm xmlns:a="http://schemas.openxmlformats.org/drawingml/2006/main">
            <a:off x="3333750" y="2647950"/>
            <a:ext cx="2476500" cy="762000"/>
          </a:xfrm>
          <a:prstGeom xmlns:a="http://schemas.openxmlformats.org/drawingml/2006/main" prst="rect">
            <a:avLst/>
          </a:prstGeom>
          <a:solidFill xmlns:a="http://schemas.openxmlformats.org/drawingml/2006/main">
            <a:srgbClr val="F0F8FC"/>
          </a:solidFill>
          <a:ln xmlns:a="http://schemas.openxmlformats.org/drawingml/2006/main" w="9525">
            <a:solidFill>
              <a:srgbClr val="249BCC"/>
            </a:solidFill>
          </a:ln>
        </p:spPr>
        <p:txBody>
          <a:bodyPr xmlns:a="http://schemas.openxmlformats.org/drawingml/2006/main">
            <a:noAutofit/>
          </a:bodyPr>
          <a:lstStyle xmlns:a="http://schemas.openxmlformats.org/drawingml/2006/main"/>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Two-family extraction</a:t>
            </a:r>
          </a:p>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Llama + Claude Haiku</a:t>
            </a:r>
          </a:p>
        </p:txBody>
      </p:sp>
      <p:sp>
        <p:nvSpPr>
          <p:cNvPr id="8" name="">
            <a:extLst xmlns:a="http://schemas.openxmlformats.org/drawingml/2006/main">
              <a:ext uri="{FF2B5EF4-FFF2-40B4-BE49-F238E27FC236}">
                <a16:creationId xmlns:a16="http://schemas.microsoft.com/office/drawing/2014/main" id="{064DDE63-EB21-4CE4-BF29-896B02FDB14A}"/>
              </a:ext>
            </a:extLst>
          </p:cNvPr>
          <p:cNvSpPr>
            <a:spLocks xmlns:a="http://schemas.openxmlformats.org/drawingml/2006/main" noGrp="1"/>
          </p:cNvSpPr>
          <p:nvPr/>
        </p:nvSpPr>
        <p:spPr>
          <a:xfrm xmlns:a="http://schemas.openxmlformats.org/drawingml/2006/main">
            <a:off x="6400800" y="2647950"/>
            <a:ext cx="2333625" cy="762000"/>
          </a:xfrm>
          <a:prstGeom xmlns:a="http://schemas.openxmlformats.org/drawingml/2006/main" prst="rect">
            <a:avLst/>
          </a:prstGeom>
          <a:solidFill xmlns:a="http://schemas.openxmlformats.org/drawingml/2006/main">
            <a:srgbClr val="F0F8FC"/>
          </a:solidFill>
          <a:ln xmlns:a="http://schemas.openxmlformats.org/drawingml/2006/main" w="9525">
            <a:solidFill>
              <a:srgbClr val="249BCC"/>
            </a:solidFill>
          </a:ln>
        </p:spPr>
        <p:txBody>
          <a:bodyPr xmlns:a="http://schemas.openxmlformats.org/drawingml/2006/main">
            <a:noAutofit/>
          </a:bodyPr>
          <a:lstStyle xmlns:a="http://schemas.openxmlformats.org/drawingml/2006/main"/>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Coordinator workspace</a:t>
            </a:r>
          </a:p>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Sources · tasks · receipts</a:t>
            </a:r>
          </a:p>
        </p:txBody>
      </p:sp>
      <p:sp>
        <p:nvSpPr>
          <p:cNvPr id="9" name="">
            <a:extLst xmlns:a="http://schemas.openxmlformats.org/drawingml/2006/main">
              <a:ext uri="{FF2B5EF4-FFF2-40B4-BE49-F238E27FC236}">
                <a16:creationId xmlns:a16="http://schemas.microsoft.com/office/drawing/2014/main" id="{AF1B1B34-CB69-4EFA-9846-4E693D6FC8AE}"/>
              </a:ext>
            </a:extLst>
          </p:cNvPr>
          <p:cNvSpPr>
            <a:spLocks xmlns:a="http://schemas.openxmlformats.org/drawingml/2006/main" noGrp="1"/>
          </p:cNvSpPr>
          <p:nvPr/>
        </p:nvSpPr>
        <p:spPr>
          <a:xfrm xmlns:a="http://schemas.openxmlformats.org/drawingml/2006/main">
            <a:off x="2809875" y="1685925"/>
            <a:ext cx="428625" cy="171450"/>
          </a:xfrm>
          <a:prstGeom xmlns:a="http://schemas.openxmlformats.org/drawingml/2006/main" prst="rightArrow">
            <a:avLst/>
          </a:prstGeom>
          <a:solidFill xmlns:a="http://schemas.openxmlformats.org/drawingml/2006/main">
            <a:srgbClr val="249B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19967EE-9D20-451F-85CF-D68B5FE9D4BA}"/>
              </a:ext>
            </a:extLst>
          </p:cNvPr>
          <p:cNvSpPr>
            <a:spLocks xmlns:a="http://schemas.openxmlformats.org/drawingml/2006/main" noGrp="1"/>
          </p:cNvSpPr>
          <p:nvPr/>
        </p:nvSpPr>
        <p:spPr>
          <a:xfrm xmlns:a="http://schemas.openxmlformats.org/drawingml/2006/main">
            <a:off x="5886450" y="1685925"/>
            <a:ext cx="428625" cy="171450"/>
          </a:xfrm>
          <a:prstGeom xmlns:a="http://schemas.openxmlformats.org/drawingml/2006/main" prst="rightArrow">
            <a:avLst/>
          </a:prstGeom>
          <a:solidFill xmlns:a="http://schemas.openxmlformats.org/drawingml/2006/main">
            <a:srgbClr val="249BC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1EDEA8A-12E4-471F-87F7-6CEFDEB1E59D}"/>
              </a:ext>
            </a:extLst>
          </p:cNvPr>
          <p:cNvSpPr>
            <a:spLocks xmlns:a="http://schemas.openxmlformats.org/drawingml/2006/main" noGrp="1"/>
          </p:cNvSpPr>
          <p:nvPr/>
        </p:nvSpPr>
        <p:spPr>
          <a:xfrm xmlns:a="http://schemas.openxmlformats.org/drawingml/2006/main">
            <a:off x="2809875" y="2905125"/>
            <a:ext cx="428625" cy="171450"/>
          </a:xfrm>
          <a:prstGeom xmlns:a="http://schemas.openxmlformats.org/drawingml/2006/main" prst="rightArrow">
            <a:avLst/>
          </a:prstGeom>
          <a:solidFill xmlns:a="http://schemas.openxmlformats.org/drawingml/2006/main">
            <a:srgbClr val="249BC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62CEB49-953A-4ECA-AD5C-56384A102B01}"/>
              </a:ext>
            </a:extLst>
          </p:cNvPr>
          <p:cNvSpPr>
            <a:spLocks xmlns:a="http://schemas.openxmlformats.org/drawingml/2006/main" noGrp="1"/>
          </p:cNvSpPr>
          <p:nvPr/>
        </p:nvSpPr>
        <p:spPr>
          <a:xfrm xmlns:a="http://schemas.openxmlformats.org/drawingml/2006/main">
            <a:off x="4438650" y="2257425"/>
            <a:ext cx="209550" cy="314325"/>
          </a:xfrm>
          <a:prstGeom xmlns:a="http://schemas.openxmlformats.org/drawingml/2006/main" prst="upArrow">
            <a:avLst/>
          </a:prstGeom>
          <a:solidFill xmlns:a="http://schemas.openxmlformats.org/drawingml/2006/main">
            <a:srgbClr val="249BC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9F33CD7-A728-438D-9CCC-8D47F26D277E}"/>
              </a:ext>
            </a:extLst>
          </p:cNvPr>
          <p:cNvSpPr>
            <a:spLocks xmlns:a="http://schemas.openxmlformats.org/drawingml/2006/main" noGrp="1"/>
          </p:cNvSpPr>
          <p:nvPr/>
        </p:nvSpPr>
        <p:spPr>
          <a:xfrm xmlns:a="http://schemas.openxmlformats.org/drawingml/2006/main">
            <a:off x="7477125" y="2257425"/>
            <a:ext cx="209550" cy="314325"/>
          </a:xfrm>
          <a:prstGeom xmlns:a="http://schemas.openxmlformats.org/drawingml/2006/main" prst="downArrow">
            <a:avLst/>
          </a:prstGeom>
          <a:solidFill xmlns:a="http://schemas.openxmlformats.org/drawingml/2006/main">
            <a:srgbClr val="249BC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6CF4705-5B92-49A1-81E3-F7F88EFFD0BB}"/>
              </a:ext>
            </a:extLst>
          </p:cNvPr>
          <p:cNvSpPr>
            <a:spLocks xmlns:a="http://schemas.openxmlformats.org/drawingml/2006/main" noGrp="1"/>
          </p:cNvSpPr>
          <p:nvPr/>
        </p:nvSpPr>
        <p:spPr>
          <a:xfrm xmlns:a="http://schemas.openxmlformats.org/drawingml/2006/main">
            <a:off x="400050" y="3695700"/>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42735"/>
                </a:solidFill>
                <a:latin typeface="Manrope SemiBold"/>
                <a:ea typeface="Manrope SemiBold"/>
                <a:cs typeface="Manrope SemiBold"/>
              </a:defRPr>
            </a:pPr>
            <a:r>
              <a:rPr sz="1575" b="1">
                <a:solidFill>
                  <a:srgbClr val="142735"/>
                </a:solidFill>
                <a:latin typeface="Manrope SemiBold"/>
                <a:ea typeface="Manrope SemiBold"/>
                <a:cs typeface="Manrope SemiBold"/>
              </a:rPr>
              <a:t>CoCo lifecycle evidence: planning, development, execution and testing</a:t>
            </a:r>
          </a:p>
        </p:txBody>
      </p:sp>
      <p:sp>
        <p:nvSpPr>
          <p:cNvPr id="15" name="">
            <a:extLst xmlns:a="http://schemas.openxmlformats.org/drawingml/2006/main">
              <a:ext uri="{FF2B5EF4-FFF2-40B4-BE49-F238E27FC236}">
                <a16:creationId xmlns:a16="http://schemas.microsoft.com/office/drawing/2014/main" id="{9ED17361-829B-42F1-995C-C7C4D5312AF1}"/>
              </a:ext>
            </a:extLst>
          </p:cNvPr>
          <p:cNvSpPr>
            <a:spLocks xmlns:a="http://schemas.openxmlformats.org/drawingml/2006/main" noGrp="1"/>
          </p:cNvSpPr>
          <p:nvPr/>
        </p:nvSpPr>
        <p:spPr>
          <a:xfrm xmlns:a="http://schemas.openxmlformats.org/drawingml/2006/main">
            <a:off x="400050" y="4124325"/>
            <a:ext cx="823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42735"/>
                </a:solidFill>
                <a:latin typeface="Manrope SemiBold"/>
                <a:ea typeface="Manrope SemiBold"/>
                <a:cs typeface="Manrope SemiBold"/>
              </a:defRPr>
            </a:pPr>
            <a:r>
              <a:rPr sz="1425" b="0">
                <a:solidFill>
                  <a:srgbClr val="142735"/>
                </a:solidFill>
                <a:latin typeface="Manrope SemiBold"/>
                <a:ea typeface="Manrope SemiBold"/>
                <a:cs typeface="Manrope SemiBold"/>
              </a:rPr>
              <a:t>Authored skills: question routing, evidence reconciliation, rule use and retrieval.</a:t>
            </a:r>
          </a:p>
          <a:p xmlns:a="http://schemas.openxmlformats.org/drawingml/2006/main">
            <a:pPr>
              <a:defRPr sz="1425" b="0">
                <a:solidFill>
                  <a:srgbClr val="142735"/>
                </a:solidFill>
                <a:latin typeface="Manrope SemiBold"/>
                <a:ea typeface="Manrope SemiBold"/>
                <a:cs typeface="Manrope SemiBold"/>
              </a:defRPr>
            </a:pPr>
            <a:r>
              <a:rPr sz="1425" b="0">
                <a:solidFill>
                  <a:srgbClr val="142735"/>
                </a:solidFill>
                <a:latin typeface="Manrope SemiBold"/>
                <a:ea typeface="Manrope SemiBold"/>
                <a:cs typeface="Manrope SemiBold"/>
              </a:rPr>
              <a:t>Patient and reference corpora use separate search services.</a:t>
            </a:r>
          </a:p>
        </p:txBody>
      </p:sp>
    </p:spTree>
    <p:extLst>
      <p:ext uri="{BB962C8B-B14F-4D97-AF65-F5344CB8AC3E}">
        <p14:creationId xmlns:p14="http://schemas.microsoft.com/office/powerpoint/2010/main" val="15917778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0" name="Google Shape;74;p16"/>
          <p:cNvPicPr>
            <a:picLocks xmlns:a="http://schemas.openxmlformats.org/drawingml/2006/main" noChangeAspect="1"/>
          </p:cNvPicPr>
          <p:nvPr/>
        </p:nvPicPr>
        <p:blipFill rotWithShape="1">
          <a:blip xmlns:r="http://schemas.openxmlformats.org/officeDocument/2006/relationships" xmlns:a="http://schemas.openxmlformats.org/drawingml/2006/main" r:embed="R195bf3fb8ac04930">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
        <p:nvSpPr>
          <p:cNvPr id="2" name="">
            <a:extLst xmlns:a="http://schemas.openxmlformats.org/drawingml/2006/main">
              <a:ext uri="{FF2B5EF4-FFF2-40B4-BE49-F238E27FC236}">
                <a16:creationId xmlns:a16="http://schemas.microsoft.com/office/drawing/2014/main" id="{72042A81-1A4B-4C15-88DB-DB534E5B05C8}"/>
              </a:ext>
            </a:extLst>
          </p:cNvPr>
          <p:cNvSpPr>
            <a:spLocks xmlns:a="http://schemas.openxmlformats.org/drawingml/2006/main" noGrp="1"/>
          </p:cNvSpPr>
          <p:nvPr/>
        </p:nvSpPr>
        <p:spPr>
          <a:xfrm xmlns:a="http://schemas.openxmlformats.org/drawingml/2006/main">
            <a:off x="400050" y="685800"/>
            <a:ext cx="828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735"/>
                </a:solidFill>
                <a:latin typeface="Manrope SemiBold"/>
                <a:ea typeface="Manrope SemiBold"/>
                <a:cs typeface="Manrope SemiBold"/>
              </a:defRPr>
            </a:pPr>
            <a:r>
              <a:rPr sz="2550" b="1">
                <a:solidFill>
                  <a:srgbClr val="142735"/>
                </a:solidFill>
                <a:latin typeface="Manrope SemiBold"/>
                <a:ea typeface="Manrope SemiBold"/>
                <a:cs typeface="Manrope SemiBold"/>
              </a:rPr>
              <a:t>Measured engineering evidence</a:t>
            </a:r>
          </a:p>
        </p:txBody>
      </p:sp>
      <p:sp>
        <p:nvSpPr>
          <p:cNvPr id="3" name="">
            <a:extLst xmlns:a="http://schemas.openxmlformats.org/drawingml/2006/main">
              <a:ext uri="{FF2B5EF4-FFF2-40B4-BE49-F238E27FC236}">
                <a16:creationId xmlns:a16="http://schemas.microsoft.com/office/drawing/2014/main" id="{8AB3DC04-669C-46B4-8F21-7B04BCC727FE}"/>
              </a:ext>
            </a:extLst>
          </p:cNvPr>
          <p:cNvSpPr>
            <a:spLocks xmlns:a="http://schemas.openxmlformats.org/drawingml/2006/main" noGrp="1"/>
          </p:cNvSpPr>
          <p:nvPr/>
        </p:nvSpPr>
        <p:spPr>
          <a:xfrm xmlns:a="http://schemas.openxmlformats.org/drawingml/2006/main">
            <a:off x="400050" y="1428750"/>
            <a:ext cx="3810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735"/>
                </a:solidFill>
                <a:latin typeface="Manrope SemiBold"/>
                <a:ea typeface="Manrope SemiBold"/>
                <a:cs typeface="Manrope SemiBold"/>
              </a:defRPr>
            </a:pPr>
            <a:r>
              <a:rPr sz="3450" b="1">
                <a:solidFill>
                  <a:srgbClr val="142735"/>
                </a:solidFill>
                <a:latin typeface="Manrope SemiBold"/>
                <a:ea typeface="Manrope SemiBold"/>
                <a:cs typeface="Manrope SemiBold"/>
              </a:rPr>
              <a:t>273 / 273</a:t>
            </a:r>
          </a:p>
        </p:txBody>
      </p:sp>
      <p:sp>
        <p:nvSpPr>
          <p:cNvPr id="4" name="">
            <a:extLst xmlns:a="http://schemas.openxmlformats.org/drawingml/2006/main">
              <a:ext uri="{FF2B5EF4-FFF2-40B4-BE49-F238E27FC236}">
                <a16:creationId xmlns:a16="http://schemas.microsoft.com/office/drawing/2014/main" id="{44CCC74E-F6F6-4F0F-9547-B3E419A87A92}"/>
              </a:ext>
            </a:extLst>
          </p:cNvPr>
          <p:cNvSpPr>
            <a:spLocks xmlns:a="http://schemas.openxmlformats.org/drawingml/2006/main" noGrp="1"/>
          </p:cNvSpPr>
          <p:nvPr/>
        </p:nvSpPr>
        <p:spPr>
          <a:xfrm xmlns:a="http://schemas.openxmlformats.org/drawingml/2006/main">
            <a:off x="400050" y="209550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735"/>
                </a:solidFill>
                <a:latin typeface="Manrope SemiBold"/>
                <a:ea typeface="Manrope SemiBold"/>
                <a:cs typeface="Manrope SemiBold"/>
              </a:defRPr>
            </a:pPr>
            <a:r>
              <a:rPr sz="1575" b="0">
                <a:solidFill>
                  <a:srgbClr val="142735"/>
                </a:solidFill>
                <a:latin typeface="Manrope SemiBold"/>
                <a:ea typeface="Manrope SemiBold"/>
                <a:cs typeface="Manrope SemiBold"/>
              </a:rPr>
              <a:t>Web checks passed</a:t>
            </a:r>
          </a:p>
          <a:p xmlns:a="http://schemas.openxmlformats.org/drawingml/2006/main">
            <a:pPr>
              <a:defRPr sz="1575" b="0">
                <a:solidFill>
                  <a:srgbClr val="142735"/>
                </a:solidFill>
                <a:latin typeface="Manrope SemiBold"/>
                <a:ea typeface="Manrope SemiBold"/>
                <a:cs typeface="Manrope SemiBold"/>
              </a:defRPr>
            </a:pPr>
            <a:r>
              <a:rPr sz="1575" b="0">
                <a:solidFill>
                  <a:srgbClr val="142735"/>
                </a:solidFill>
                <a:latin typeface="Manrope SemiBold"/>
                <a:ea typeface="Manrope SemiBold"/>
                <a:cs typeface="Manrope SemiBold"/>
              </a:rPr>
              <a:t>40 fixture browser E2E also passed</a:t>
            </a:r>
          </a:p>
        </p:txBody>
      </p:sp>
      <p:sp>
        <p:nvSpPr>
          <p:cNvPr id="5" name="">
            <a:extLst xmlns:a="http://schemas.openxmlformats.org/drawingml/2006/main">
              <a:ext uri="{FF2B5EF4-FFF2-40B4-BE49-F238E27FC236}">
                <a16:creationId xmlns:a16="http://schemas.microsoft.com/office/drawing/2014/main" id="{49D1A941-779C-480C-ABF0-290B571A76D9}"/>
              </a:ext>
            </a:extLst>
          </p:cNvPr>
          <p:cNvSpPr>
            <a:spLocks xmlns:a="http://schemas.openxmlformats.org/drawingml/2006/main" noGrp="1"/>
          </p:cNvSpPr>
          <p:nvPr/>
        </p:nvSpPr>
        <p:spPr>
          <a:xfrm xmlns:a="http://schemas.openxmlformats.org/drawingml/2006/main">
            <a:off x="4667250" y="1428750"/>
            <a:ext cx="4000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735"/>
                </a:solidFill>
                <a:latin typeface="Manrope SemiBold"/>
                <a:ea typeface="Manrope SemiBold"/>
                <a:cs typeface="Manrope SemiBold"/>
              </a:defRPr>
            </a:pPr>
            <a:r>
              <a:rPr sz="2250" b="1">
                <a:solidFill>
                  <a:srgbClr val="142735"/>
                </a:solidFill>
                <a:latin typeface="Manrope SemiBold"/>
                <a:ea typeface="Manrope SemiBold"/>
                <a:cs typeface="Manrope SemiBold"/>
              </a:rPr>
              <a:t>463 passed · 14 skipped</a:t>
            </a:r>
          </a:p>
        </p:txBody>
      </p:sp>
      <p:sp>
        <p:nvSpPr>
          <p:cNvPr id="6" name="">
            <a:extLst xmlns:a="http://schemas.openxmlformats.org/drawingml/2006/main">
              <a:ext uri="{FF2B5EF4-FFF2-40B4-BE49-F238E27FC236}">
                <a16:creationId xmlns:a16="http://schemas.microsoft.com/office/drawing/2014/main" id="{9865FADF-4D2D-41C3-BC72-445174F6E0BC}"/>
              </a:ext>
            </a:extLst>
          </p:cNvPr>
          <p:cNvSpPr>
            <a:spLocks xmlns:a="http://schemas.openxmlformats.org/drawingml/2006/main" noGrp="1"/>
          </p:cNvSpPr>
          <p:nvPr/>
        </p:nvSpPr>
        <p:spPr>
          <a:xfrm xmlns:a="http://schemas.openxmlformats.org/drawingml/2006/main">
            <a:off x="4667250" y="2095500"/>
            <a:ext cx="390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735"/>
                </a:solidFill>
                <a:latin typeface="Manrope SemiBold"/>
                <a:ea typeface="Manrope SemiBold"/>
                <a:cs typeface="Manrope SemiBold"/>
              </a:defRPr>
            </a:pPr>
            <a:r>
              <a:rPr sz="1575" b="0">
                <a:solidFill>
                  <a:srgbClr val="142735"/>
                </a:solidFill>
                <a:latin typeface="Manrope SemiBold"/>
                <a:ea typeface="Manrope SemiBold"/>
                <a:cs typeface="Manrope SemiBold"/>
              </a:rPr>
              <a:t>Python checks on current working tree</a:t>
            </a:r>
          </a:p>
          <a:p xmlns:a="http://schemas.openxmlformats.org/drawingml/2006/main">
            <a:pPr>
              <a:defRPr sz="1575" b="0">
                <a:solidFill>
                  <a:srgbClr val="142735"/>
                </a:solidFill>
                <a:latin typeface="Manrope SemiBold"/>
                <a:ea typeface="Manrope SemiBold"/>
                <a:cs typeface="Manrope SemiBold"/>
              </a:defRPr>
            </a:pPr>
            <a:r>
              <a:rPr sz="1575" b="0">
                <a:solidFill>
                  <a:srgbClr val="142735"/>
                </a:solidFill>
                <a:latin typeface="Manrope SemiBold"/>
                <a:ea typeface="Manrope SemiBold"/>
                <a:cs typeface="Manrope SemiBold"/>
              </a:rPr>
              <a:t>Typecheck and production build passed</a:t>
            </a:r>
          </a:p>
        </p:txBody>
      </p:sp>
      <p:sp>
        <p:nvSpPr>
          <p:cNvPr id="7" name="">
            <a:extLst xmlns:a="http://schemas.openxmlformats.org/drawingml/2006/main">
              <a:ext uri="{FF2B5EF4-FFF2-40B4-BE49-F238E27FC236}">
                <a16:creationId xmlns:a16="http://schemas.microsoft.com/office/drawing/2014/main" id="{85FBECE3-2E4E-47CC-B5D2-10FF95320846}"/>
              </a:ext>
            </a:extLst>
          </p:cNvPr>
          <p:cNvSpPr>
            <a:spLocks xmlns:a="http://schemas.openxmlformats.org/drawingml/2006/main" noGrp="1"/>
          </p:cNvSpPr>
          <p:nvPr/>
        </p:nvSpPr>
        <p:spPr>
          <a:xfrm xmlns:a="http://schemas.openxmlformats.org/drawingml/2006/main">
            <a:off x="400050" y="3124200"/>
            <a:ext cx="819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735"/>
                </a:solidFill>
                <a:latin typeface="Manrope SemiBold"/>
                <a:ea typeface="Manrope SemiBold"/>
                <a:cs typeface="Manrope SemiBold"/>
              </a:defRPr>
            </a:pPr>
            <a:r>
              <a:rPr sz="2100" b="1">
                <a:solidFill>
                  <a:srgbClr val="142735"/>
                </a:solidFill>
                <a:latin typeface="Manrope SemiBold"/>
                <a:ea typeface="Manrope SemiBold"/>
                <a:cs typeface="Manrope SemiBold"/>
              </a:rPr>
              <a:t>Live guarded answer and clinical refusal</a:t>
            </a:r>
          </a:p>
        </p:txBody>
      </p:sp>
      <p:sp>
        <p:nvSpPr>
          <p:cNvPr id="8" name="">
            <a:extLst xmlns:a="http://schemas.openxmlformats.org/drawingml/2006/main">
              <a:ext uri="{FF2B5EF4-FFF2-40B4-BE49-F238E27FC236}">
                <a16:creationId xmlns:a16="http://schemas.microsoft.com/office/drawing/2014/main" id="{B5444743-2099-4D58-9F31-F7E42CE06F0D}"/>
              </a:ext>
            </a:extLst>
          </p:cNvPr>
          <p:cNvSpPr>
            <a:spLocks xmlns:a="http://schemas.openxmlformats.org/drawingml/2006/main" noGrp="1"/>
          </p:cNvSpPr>
          <p:nvPr/>
        </p:nvSpPr>
        <p:spPr>
          <a:xfrm xmlns:a="http://schemas.openxmlformats.org/drawingml/2006/main">
            <a:off x="400050" y="3667125"/>
            <a:ext cx="828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735"/>
                </a:solidFill>
                <a:latin typeface="Manrope SemiBold"/>
                <a:ea typeface="Manrope SemiBold"/>
                <a:cs typeface="Manrope SemiBold"/>
              </a:defRPr>
            </a:pPr>
            <a:r>
              <a:rPr sz="1575" b="0">
                <a:solidFill>
                  <a:srgbClr val="142735"/>
                </a:solidFill>
                <a:latin typeface="Manrope SemiBold"/>
                <a:ea typeface="Manrope SemiBold"/>
                <a:cs typeface="Manrope SemiBold"/>
              </a:rPr>
              <a:t>NY64016: cited platelet record with source clocks. Clinical judgment refused. Unsupported candidates stripped by SQL.</a:t>
            </a:r>
          </a:p>
        </p:txBody>
      </p:sp>
      <p:sp>
        <p:nvSpPr>
          <p:cNvPr id="9" name="">
            <a:extLst xmlns:a="http://schemas.openxmlformats.org/drawingml/2006/main">
              <a:ext uri="{FF2B5EF4-FFF2-40B4-BE49-F238E27FC236}">
                <a16:creationId xmlns:a16="http://schemas.microsoft.com/office/drawing/2014/main" id="{AF0D5133-DB1D-4983-BF26-EA7369251A1E}"/>
              </a:ext>
            </a:extLst>
          </p:cNvPr>
          <p:cNvSpPr>
            <a:spLocks xmlns:a="http://schemas.openxmlformats.org/drawingml/2006/main" noGrp="1"/>
          </p:cNvSpPr>
          <p:nvPr/>
        </p:nvSpPr>
        <p:spPr>
          <a:xfrm xmlns:a="http://schemas.openxmlformats.org/drawingml/2006/main">
            <a:off x="400050" y="4552950"/>
            <a:ext cx="828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42735"/>
                </a:solidFill>
                <a:latin typeface="Manrope SemiBold"/>
                <a:ea typeface="Manrope SemiBold"/>
                <a:cs typeface="Manrope SemiBold"/>
              </a:defRPr>
            </a:pPr>
            <a:r>
              <a:rPr sz="1275" b="0">
                <a:solidFill>
                  <a:srgbClr val="142735"/>
                </a:solidFill>
                <a:latin typeface="Manrope SemiBold"/>
                <a:ea typeface="Manrope SemiBold"/>
                <a:cs typeface="Manrope SemiBold"/>
              </a:rPr>
              <a:t>30 simulated pairs: median 260s manual vs 123s assisted. Assumptions, not observed operator impact.</a:t>
            </a:r>
          </a:p>
        </p:txBody>
      </p:sp>
    </p:spTree>
    <p:extLst>
      <p:ext uri="{BB962C8B-B14F-4D97-AF65-F5344CB8AC3E}">
        <p14:creationId xmlns:p14="http://schemas.microsoft.com/office/powerpoint/2010/main" val="211374097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90" name="Google Shape;79;p17"/>
          <p:cNvPicPr>
            <a:picLocks xmlns:a="http://schemas.openxmlformats.org/drawingml/2006/main" noChangeAspect="1"/>
          </p:cNvPicPr>
          <p:nvPr/>
        </p:nvPicPr>
        <p:blipFill rotWithShape="1">
          <a:blip xmlns:r="http://schemas.openxmlformats.org/officeDocument/2006/relationships" xmlns:a="http://schemas.openxmlformats.org/drawingml/2006/main" r:embed="R42b49e57015e43c0">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
        <p:nvSpPr>
          <p:cNvPr id="80" name="Google Shape;80;p17">
            <a:extLst xmlns:a="http://schemas.openxmlformats.org/drawingml/2006/main">
              <a:ext uri="{FF2B5EF4-FFF2-40B4-BE49-F238E27FC236}">
                <a16:creationId xmlns:a16="http://schemas.microsoft.com/office/drawing/2014/main" id="{AA1BD719-8A1B-4797-9E17-2691B8E2207A}"/>
              </a:ext>
            </a:extLst>
          </p:cNvPr>
          <p:cNvSpPr>
            <a:spLocks xmlns:a="http://schemas.openxmlformats.org/drawingml/2006/main" noGrp="1"/>
          </p:cNvSpPr>
          <p:nvPr/>
        </p:nvSpPr>
        <p:spPr>
          <a:xfrm xmlns:a="http://schemas.openxmlformats.org/drawingml/2006/main">
            <a:off x="315900" y="4478850"/>
            <a:ext cx="8512200" cy="532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marR="0" lvl="0" indent="0" algn="l">
              <a:lnSpc>
                <a:spcPct val="115000"/>
              </a:lnSpc>
              <a:spcBef>
                <a:spcPts val="0"/>
              </a:spcBef>
              <a:spcAft>
                <a:spcPts val="1200"/>
              </a:spcAft>
              <a:buClr>
                <a:srgbClr val="000000"/>
              </a:buClr>
              <a:buSzPts val="935"/>
              <a:buFont typeface="Arial"/>
              <a:buNone/>
            </a:pPr>
            <a:r>
              <a:rPr sz="900" b="1" i="1" u="none" cap="none">
                <a:solidFill>
                  <a:srgbClr val="202729"/>
                </a:solidFill>
                <a:latin typeface="Manrope"/>
                <a:ea typeface="Manrope"/>
                <a:cs typeface="Manrope"/>
              </a:rPr>
              <a:t/>
            </a:r>
            <a:endParaRPr sz="600" b="0" i="1" u="none" cap="none">
              <a:solidFill>
                <a:srgbClr val="434343"/>
              </a:solidFill>
              <a:latin typeface="Manrope"/>
              <a:ea typeface="Manrope"/>
              <a:cs typeface="Manrope"/>
            </a:endParaRPr>
          </a:p>
        </p:txBody>
      </p:sp>
      <p:sp>
        <p:nvSpPr>
          <p:cNvPr id="82" name="">
            <a:extLst xmlns:a="http://schemas.openxmlformats.org/drawingml/2006/main">
              <a:ext uri="{FF2B5EF4-FFF2-40B4-BE49-F238E27FC236}">
                <a16:creationId xmlns:a16="http://schemas.microsoft.com/office/drawing/2014/main" id="{19927139-5FD5-4173-9737-F0A324375C4C}"/>
              </a:ext>
            </a:extLst>
          </p:cNvPr>
          <p:cNvSpPr>
            <a:spLocks xmlns:a="http://schemas.openxmlformats.org/drawingml/2006/main" noGrp="1"/>
          </p:cNvSpPr>
          <p:nvPr/>
        </p:nvSpPr>
        <p:spPr>
          <a:xfrm xmlns:a="http://schemas.openxmlformats.org/drawingml/2006/main">
            <a:off x="400050" y="685800"/>
            <a:ext cx="828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735"/>
                </a:solidFill>
                <a:latin typeface="Manrope SemiBold"/>
                <a:ea typeface="Manrope SemiBold"/>
                <a:cs typeface="Manrope SemiBold"/>
              </a:defRPr>
            </a:pPr>
            <a:r>
              <a:rPr sz="2550" b="1">
                <a:solidFill>
                  <a:srgbClr val="142735"/>
                </a:solidFill>
                <a:latin typeface="Manrope SemiBold"/>
                <a:ea typeface="Manrope SemiBold"/>
                <a:cs typeface="Manrope SemiBold"/>
              </a:rPr>
              <a:t>Judge walkthrough and release evidence</a:t>
            </a:r>
          </a:p>
        </p:txBody>
      </p:sp>
      <p:sp>
        <p:nvSpPr>
          <p:cNvPr id="83" name="">
            <a:extLst xmlns:a="http://schemas.openxmlformats.org/drawingml/2006/main">
              <a:ext uri="{FF2B5EF4-FFF2-40B4-BE49-F238E27FC236}">
                <a16:creationId xmlns:a16="http://schemas.microsoft.com/office/drawing/2014/main" id="{B0B6AEC5-0583-40E9-A19F-65578162202B}"/>
              </a:ext>
            </a:extLst>
          </p:cNvPr>
          <p:cNvSpPr>
            <a:spLocks xmlns:a="http://schemas.openxmlformats.org/drawingml/2006/main" noGrp="1"/>
          </p:cNvSpPr>
          <p:nvPr/>
        </p:nvSpPr>
        <p:spPr>
          <a:xfrm xmlns:a="http://schemas.openxmlformats.org/drawingml/2006/main">
            <a:off x="400050" y="1438275"/>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735"/>
                </a:solidFill>
                <a:latin typeface="Manrope SemiBold"/>
                <a:ea typeface="Manrope SemiBold"/>
                <a:cs typeface="Manrope SemiBold"/>
              </a:defRPr>
            </a:pPr>
            <a:r>
              <a:rPr sz="1800" b="1">
                <a:solidFill>
                  <a:srgbClr val="142735"/>
                </a:solidFill>
                <a:latin typeface="Manrope SemiBold"/>
                <a:ea typeface="Manrope SemiBold"/>
                <a:cs typeface="Manrope SemiBold"/>
              </a:rPr>
              <a:t>1   Record check</a:t>
            </a:r>
          </a:p>
        </p:txBody>
      </p:sp>
      <p:sp>
        <p:nvSpPr>
          <p:cNvPr id="84" name="">
            <a:extLst xmlns:a="http://schemas.openxmlformats.org/drawingml/2006/main">
              <a:ext uri="{FF2B5EF4-FFF2-40B4-BE49-F238E27FC236}">
                <a16:creationId xmlns:a16="http://schemas.microsoft.com/office/drawing/2014/main" id="{87B8E2E1-36E5-428C-907F-AAEA8656D0B1}"/>
              </a:ext>
            </a:extLst>
          </p:cNvPr>
          <p:cNvSpPr>
            <a:spLocks xmlns:a="http://schemas.openxmlformats.org/drawingml/2006/main" noGrp="1"/>
          </p:cNvSpPr>
          <p:nvPr/>
        </p:nvSpPr>
        <p:spPr>
          <a:xfrm xmlns:a="http://schemas.openxmlformats.org/drawingml/2006/main">
            <a:off x="3162300" y="1438275"/>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735"/>
                </a:solidFill>
                <a:latin typeface="Manrope SemiBold"/>
                <a:ea typeface="Manrope SemiBold"/>
                <a:cs typeface="Manrope SemiBold"/>
              </a:defRPr>
            </a:pPr>
            <a:r>
              <a:rPr sz="1725" b="0">
                <a:solidFill>
                  <a:srgbClr val="142735"/>
                </a:solidFill>
                <a:latin typeface="Manrope SemiBold"/>
                <a:ea typeface="Manrope SemiBold"/>
                <a:cs typeface="Manrope SemiBold"/>
              </a:rPr>
              <a:t>PAT-DC-04: inspect the SQL rule outcome, then open the exact source.</a:t>
            </a:r>
          </a:p>
        </p:txBody>
      </p:sp>
      <p:sp>
        <p:nvSpPr>
          <p:cNvPr id="85" name="">
            <a:extLst xmlns:a="http://schemas.openxmlformats.org/drawingml/2006/main">
              <a:ext uri="{FF2B5EF4-FFF2-40B4-BE49-F238E27FC236}">
                <a16:creationId xmlns:a16="http://schemas.microsoft.com/office/drawing/2014/main" id="{DA6BBBAC-7A9F-4330-BF9E-AD10139AB951}"/>
              </a:ext>
            </a:extLst>
          </p:cNvPr>
          <p:cNvSpPr>
            <a:spLocks xmlns:a="http://schemas.openxmlformats.org/drawingml/2006/main" noGrp="1"/>
          </p:cNvSpPr>
          <p:nvPr/>
        </p:nvSpPr>
        <p:spPr>
          <a:xfrm xmlns:a="http://schemas.openxmlformats.org/drawingml/2006/main">
            <a:off x="400050" y="232410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735"/>
                </a:solidFill>
                <a:latin typeface="Manrope SemiBold"/>
                <a:ea typeface="Manrope SemiBold"/>
                <a:cs typeface="Manrope SemiBold"/>
              </a:defRPr>
            </a:pPr>
            <a:r>
              <a:rPr sz="1800" b="1">
                <a:solidFill>
                  <a:srgbClr val="142735"/>
                </a:solidFill>
                <a:latin typeface="Manrope SemiBold"/>
                <a:ea typeface="Manrope SemiBold"/>
                <a:cs typeface="Manrope SemiBold"/>
              </a:rPr>
              <a:t>2   Reconciliation</a:t>
            </a:r>
          </a:p>
        </p:txBody>
      </p:sp>
      <p:sp>
        <p:nvSpPr>
          <p:cNvPr id="86" name="">
            <a:extLst xmlns:a="http://schemas.openxmlformats.org/drawingml/2006/main">
              <a:ext uri="{FF2B5EF4-FFF2-40B4-BE49-F238E27FC236}">
                <a16:creationId xmlns:a16="http://schemas.microsoft.com/office/drawing/2014/main" id="{063F6EF7-205F-4242-A7E3-A44CDBD48A3D}"/>
              </a:ext>
            </a:extLst>
          </p:cNvPr>
          <p:cNvSpPr>
            <a:spLocks xmlns:a="http://schemas.openxmlformats.org/drawingml/2006/main" noGrp="1"/>
          </p:cNvSpPr>
          <p:nvPr/>
        </p:nvSpPr>
        <p:spPr>
          <a:xfrm xmlns:a="http://schemas.openxmlformats.org/drawingml/2006/main">
            <a:off x="3162300" y="2324100"/>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735"/>
                </a:solidFill>
                <a:latin typeface="Manrope SemiBold"/>
                <a:ea typeface="Manrope SemiBold"/>
                <a:cs typeface="Manrope SemiBold"/>
              </a:defRPr>
            </a:pPr>
            <a:r>
              <a:rPr sz="1725" b="0">
                <a:solidFill>
                  <a:srgbClr val="142735"/>
                </a:solidFill>
                <a:latin typeface="Manrope SemiBold"/>
                <a:ea typeface="Manrope SemiBold"/>
                <a:cs typeface="Manrope SemiBold"/>
              </a:rPr>
              <a:t>PAT-DC-07: compare authorisation sources, change the cutoff, review follow-up history.</a:t>
            </a:r>
          </a:p>
        </p:txBody>
      </p:sp>
      <p:sp>
        <p:nvSpPr>
          <p:cNvPr id="87" name="">
            <a:extLst xmlns:a="http://schemas.openxmlformats.org/drawingml/2006/main">
              <a:ext uri="{FF2B5EF4-FFF2-40B4-BE49-F238E27FC236}">
                <a16:creationId xmlns:a16="http://schemas.microsoft.com/office/drawing/2014/main" id="{B460A25B-B35E-4725-A251-ECC8C4FCF065}"/>
              </a:ext>
            </a:extLst>
          </p:cNvPr>
          <p:cNvSpPr>
            <a:spLocks xmlns:a="http://schemas.openxmlformats.org/drawingml/2006/main" noGrp="1"/>
          </p:cNvSpPr>
          <p:nvPr/>
        </p:nvSpPr>
        <p:spPr>
          <a:xfrm xmlns:a="http://schemas.openxmlformats.org/drawingml/2006/main">
            <a:off x="400050" y="340042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2735"/>
                </a:solidFill>
                <a:latin typeface="Manrope SemiBold"/>
                <a:ea typeface="Manrope SemiBold"/>
                <a:cs typeface="Manrope SemiBold"/>
              </a:defRPr>
            </a:pPr>
            <a:r>
              <a:rPr sz="1725" b="1">
                <a:solidFill>
                  <a:srgbClr val="142735"/>
                </a:solidFill>
                <a:latin typeface="Manrope SemiBold"/>
                <a:ea typeface="Manrope SemiBold"/>
                <a:cs typeface="Manrope SemiBold"/>
              </a:rPr>
              <a:t>3   Practitioner handoff</a:t>
            </a:r>
          </a:p>
        </p:txBody>
      </p:sp>
      <p:sp>
        <p:nvSpPr>
          <p:cNvPr id="88" name="">
            <a:extLst xmlns:a="http://schemas.openxmlformats.org/drawingml/2006/main">
              <a:ext uri="{FF2B5EF4-FFF2-40B4-BE49-F238E27FC236}">
                <a16:creationId xmlns:a16="http://schemas.microsoft.com/office/drawing/2014/main" id="{417F5BA5-AF4A-4146-B91E-A4FFE7535076}"/>
              </a:ext>
            </a:extLst>
          </p:cNvPr>
          <p:cNvSpPr>
            <a:spLocks xmlns:a="http://schemas.openxmlformats.org/drawingml/2006/main" noGrp="1"/>
          </p:cNvSpPr>
          <p:nvPr/>
        </p:nvSpPr>
        <p:spPr>
          <a:xfrm xmlns:a="http://schemas.openxmlformats.org/drawingml/2006/main">
            <a:off x="3162300" y="3400425"/>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735"/>
                </a:solidFill>
                <a:latin typeface="Manrope SemiBold"/>
                <a:ea typeface="Manrope SemiBold"/>
                <a:cs typeface="Manrope SemiBold"/>
              </a:defRPr>
            </a:pPr>
            <a:r>
              <a:rPr sz="1725" b="0">
                <a:solidFill>
                  <a:srgbClr val="142735"/>
                </a:solidFill>
                <a:latin typeface="Manrope SemiBold"/>
                <a:ea typeface="Manrope SemiBold"/>
                <a:cs typeface="Manrope SemiBold"/>
              </a:rPr>
              <a:t>Ask a record question, inspect citations, then demonstrate clinical-judgment refusal.</a:t>
            </a:r>
          </a:p>
        </p:txBody>
      </p:sp>
      <p:sp>
        <p:nvSpPr>
          <p:cNvPr id="89" name="">
            <a:extLst xmlns:a="http://schemas.openxmlformats.org/drawingml/2006/main">
              <a:ext uri="{FF2B5EF4-FFF2-40B4-BE49-F238E27FC236}">
                <a16:creationId xmlns:a16="http://schemas.microsoft.com/office/drawing/2014/main" id="{66796CA1-2E1A-4A90-B3F6-7B54EB34E633}"/>
              </a:ext>
            </a:extLst>
          </p:cNvPr>
          <p:cNvSpPr>
            <a:spLocks xmlns:a="http://schemas.openxmlformats.org/drawingml/2006/main" noGrp="1"/>
          </p:cNvSpPr>
          <p:nvPr/>
        </p:nvSpPr>
        <p:spPr>
          <a:xfrm xmlns:a="http://schemas.openxmlformats.org/drawingml/2006/main">
            <a:off x="400050" y="4438650"/>
            <a:ext cx="828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42735"/>
                </a:solidFill>
                <a:latin typeface="Manrope SemiBold"/>
                <a:ea typeface="Manrope SemiBold"/>
                <a:cs typeface="Manrope SemiBold"/>
              </a:defRPr>
            </a:pPr>
            <a:r>
              <a:rPr sz="1425" b="1">
                <a:solidFill>
                  <a:srgbClr val="142735"/>
                </a:solidFill>
                <a:latin typeface="Manrope SemiBold"/>
                <a:ea typeface="Manrope SemiBold"/>
                <a:cs typeface="Manrope SemiBold"/>
              </a:rPr>
              <a:t>Source and reproducible checks: github.com/DanushArun/patient-360</a:t>
            </a:r>
          </a:p>
        </p:txBody>
      </p:sp>
    </p:spTree>
    <p:extLst>
      <p:ext uri="{BB962C8B-B14F-4D97-AF65-F5344CB8AC3E}">
        <p14:creationId xmlns:p14="http://schemas.microsoft.com/office/powerpoint/2010/main" val="137712867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Google Shape;85;p18"/>
          <p:cNvPicPr>
            <a:picLocks xmlns:a="http://schemas.openxmlformats.org/drawingml/2006/main" noChangeAspect="1"/>
          </p:cNvPicPr>
          <p:nvPr/>
        </p:nvPicPr>
        <p:blipFill rotWithShape="1">
          <a:blip xmlns:r="http://schemas.openxmlformats.org/officeDocument/2006/relationships" xmlns:a="http://schemas.openxmlformats.org/drawingml/2006/main" r:embed="Rbf2bd2b9c0864058">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136828119"/>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2026-10-04T18:18:26.3070000Z</dcterms:created>
  <dcterms:modified xsi:type="dcterms:W3CDTF">2026-10-04T18:18:26.3070000Z</dcterms:modified>
</coreProperties>
</file>