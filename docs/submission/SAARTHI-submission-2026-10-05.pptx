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2d281b0caa4f8d" /><Relationship Type="http://schemas.openxmlformats.org/officeDocument/2006/relationships/extended-properties" Target="/docProps/app.xml" Id="R1890091a11d346ee" /><Relationship Type="http://schemas.openxmlformats.org/officeDocument/2006/relationships/officeDocument" Target="/ppt/presentation.xml" Id="Rcc730739d4af4a0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69d85c899254805"/>
  </p:sldMasterIdLst>
  <p:notesMasterIdLst>
    <p:notesMasterId xmlns:r="http://schemas.openxmlformats.org/officeDocument/2006/relationships" r:id="R663afb8b81aa4ac9"/>
  </p:notesMasterIdLst>
  <p:sldIdLst>
    <p:sldId xmlns:r="http://schemas.openxmlformats.org/officeDocument/2006/relationships" id="256" r:id="R6e3b2789db4642a9"/>
    <p:sldId xmlns:r="http://schemas.openxmlformats.org/officeDocument/2006/relationships" id="257" r:id="Rfa044b0e04704c6e"/>
    <p:sldId xmlns:r="http://schemas.openxmlformats.org/officeDocument/2006/relationships" id="258" r:id="R851f9eed67e84832"/>
    <p:sldId xmlns:r="http://schemas.openxmlformats.org/officeDocument/2006/relationships" id="259" r:id="Rb2718daf82704993"/>
    <p:sldId xmlns:r="http://schemas.openxmlformats.org/officeDocument/2006/relationships" id="260" r:id="R8fcabc7a6dd54132"/>
    <p:sldId xmlns:r="http://schemas.openxmlformats.org/officeDocument/2006/relationships" id="261" r:id="Rf3fc5cf11b164230"/>
  </p:sldIdLst>
  <p:sldSz cx="9144000" cy="5143500"/>
  <p:notesSz cx="6858000" cy="9144000"/>
  <p:embeddedFontLst>
    <p:embeddedFont>
      <p:font typeface="Manrope SemiBold"/>
      <p:regular xmlns:r="http://schemas.openxmlformats.org/officeDocument/2006/relationships" r:id="R583be9fe46354863"/>
      <p:bold xmlns:r="http://schemas.openxmlformats.org/officeDocument/2006/relationships" r:id="R51863a5bedd84a5a"/>
    </p:embeddedFont>
    <p:embeddedFont>
      <p:font typeface="Manrope"/>
      <p:regular xmlns:r="http://schemas.openxmlformats.org/officeDocument/2006/relationships" r:id="R91c0b635862a469e"/>
      <p:bold xmlns:r="http://schemas.openxmlformats.org/officeDocument/2006/relationships" r:id="Re8b845c89a8e474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6f3c0156f524442d" /><Relationship Type="http://schemas.openxmlformats.org/officeDocument/2006/relationships/slideMaster" Target="/ppt/slideMasters/slideMaster1.xml" Id="R769d85c899254805" /><Relationship Type="http://schemas.openxmlformats.org/officeDocument/2006/relationships/notesMaster" Target="/ppt/notesMasters/notesMaster1.xml" Id="R663afb8b81aa4ac9" /><Relationship Type="http://schemas.openxmlformats.org/officeDocument/2006/relationships/presProps" Target="/ppt/presProps.xml" Id="R8e940b75b25a4fc2" /><Relationship Type="http://schemas.openxmlformats.org/officeDocument/2006/relationships/viewProps" Target="/ppt/viewProps.xml" Id="Re52ffd21967e4c05" /><Relationship Type="http://schemas.openxmlformats.org/officeDocument/2006/relationships/tableStyles" Target="/ppt/tableStyles.xml" Id="Rc37ce1042dfb4c85" /><Relationship Type="http://schemas.openxmlformats.org/officeDocument/2006/relationships/font" Target="/ppt/fonts/font.dat" Id="R583be9fe46354863" /><Relationship Type="http://schemas.openxmlformats.org/officeDocument/2006/relationships/font" Target="/ppt/fonts/font2.dat" Id="R51863a5bedd84a5a" /><Relationship Type="http://schemas.openxmlformats.org/officeDocument/2006/relationships/font" Target="/ppt/fonts/font3.dat" Id="R91c0b635862a469e" /><Relationship Type="http://schemas.openxmlformats.org/officeDocument/2006/relationships/font" Target="/ppt/fonts/font4.dat" Id="Re8b845c89a8e474c" /><Relationship Type="http://schemas.openxmlformats.org/officeDocument/2006/relationships/slide" Target="/ppt/slides/slide1.xml" Id="R6e3b2789db4642a9" /><Relationship Type="http://schemas.openxmlformats.org/officeDocument/2006/relationships/slide" Target="/ppt/slides/slide2.xml" Id="Rfa044b0e04704c6e" /><Relationship Type="http://schemas.openxmlformats.org/officeDocument/2006/relationships/slide" Target="/ppt/slides/slide3.xml" Id="R851f9eed67e84832" /><Relationship Type="http://schemas.openxmlformats.org/officeDocument/2006/relationships/slide" Target="/ppt/slides/slide4.xml" Id="Rb2718daf82704993" /><Relationship Type="http://schemas.openxmlformats.org/officeDocument/2006/relationships/slide" Target="/ppt/slides/slide5.xml" Id="R8fcabc7a6dd54132" /><Relationship Type="http://schemas.openxmlformats.org/officeDocument/2006/relationships/slide" Target="/ppt/slides/slide6.xml" Id="Rf3fc5cf11b1642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7b73eaa8c344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106ca5c7314d35" /><Relationship Type="http://schemas.openxmlformats.org/officeDocument/2006/relationships/notesMaster" Target="/ppt/notesMasters/notesMaster1.xml" Id="R12b86d27e92545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3adbf1790b4379" /><Relationship Type="http://schemas.openxmlformats.org/officeDocument/2006/relationships/notesMaster" Target="/ppt/notesMasters/notesMaster1.xml" Id="R87ec8b0ea44c46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2be3a829b648b0" /><Relationship Type="http://schemas.openxmlformats.org/officeDocument/2006/relationships/notesMaster" Target="/ppt/notesMasters/notesMaster1.xml" Id="Rbb80ba0a910848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d5032f9fbe4c1d" /><Relationship Type="http://schemas.openxmlformats.org/officeDocument/2006/relationships/notesMaster" Target="/ppt/notesMasters/notesMaster1.xml" Id="R3269990691f64f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a4b700254a43a3" /><Relationship Type="http://schemas.openxmlformats.org/officeDocument/2006/relationships/notesMaster" Target="/ppt/notesMasters/notesMaster1.xml" Id="Rd88384ff168145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708da195a24ee5" /><Relationship Type="http://schemas.openxmlformats.org/officeDocument/2006/relationships/notesMaster" Target="/ppt/notesMasters/notesMaster1.xml" Id="Rff806f72d5334e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Cover metadata verified against user-supplied portal screenshot on 4 October 2026. Prepared from the supplied official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Persona and scope: README.md; planning/revised-architecture/SPEC.md. This is a coordination workflow. Reduced travel and cancellations are proposed benefits, not measured outcomes.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Sources: backend/sql/agent/saarthi_agent.sql; backend/skills/; evidence/coco/; docs/PLATFORM-FINDINGS.md. Diagram is modular, not a claim of final-account deployment. Patient and reference searches are separate services. CURRENT_USER policies and bound procedures enforce patient scope. New web guard and validator changes require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Evidence: evidence/qa/RELEASE-CHECKPOINT-2026-10-04.md. Python 684 passed, 14 live-dependent skips, 36 subtests. Web 291 passed. Fixture browser E2E 40 passed on 4 October; eight recovery checks passed on 5 October, including committed-write response loss and reload/retry. Seven overlap the prior suite: 41 distinct checks. ASK query 01c7826c-0004-0d3e-0001-fe5a0016b6d6 returned cited record, one sample 8.9s, not p95. Refusal query 01c78254-0004-0d3e-0001-fe5a0016b416. Simulation source evidence/qa/workflow-simulation-2026-10-04.json: 30 paired cases, seed 20261004, median reduction 52.55 percent from assumed distributions. Record adapter live proof: evidence/qa/RECORD-CITATION-LIVE-2026-10-05.md, query 01c7835f-0004-0e08-0001-fe5a0016cc2e. Consent category probes passed with exact restoration; evidence/qa/CONSENT-CATEGORIES-LIVE-2026-10-05.md. Normalization SELECT compiled via EXPLAIN 01c78418-0004-0e08-0001-fe5a00170c4e, no execution. Private inference compiled; no app grant. New unit/historical/scope-fingerprint guards require integrated deployment/runtime proof. Warehouse reached the approved 3-credit cap. Actual operator improvement, heldout correctness, cost and hosted release remain unmeasured. Engineering checks on synthetic records are not clinical validation.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Walkthrough source: docs/JUDGE-WALKTHROUGH.md and docs/DECK-OUTLINE.md. These are intended demonstration steps, not fresh runtime results. Final account access, public hosting, demo recording, held-out evaluation and portal completion are unresolved. The NY64016 SQL gateway is live. Native AI functions are denied for this trial account. Corporate proxy OCSP incompatibility prevents strict local SDK connection. Hosted access and independent holdout proof are not yet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Repository: https://github.com/DanushArun/patient-360 . Official rubric checked 4 October 2026: https://hack2skill.com/event/cococlihack-gccedition/ . Relevance 30, Technical Execution 40, Completeness 30. Team metadata verified. Final source evidence is in the repository. Hosted access, native execution and recording are outstanding release gates.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ee877436a645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ea5810285240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8386a97461040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a58ca733f6643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157b909927402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0bf06691de410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972b112168d424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5173bed47da430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3c48b61c7a74e7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0fbc9b56474447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f467b131abe4f67"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B40D7E9A-7662-4A27-8998-23ED3796888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3">
            <a:extLst xmlns:a="http://schemas.openxmlformats.org/drawingml/2006/main">
              <a:ext uri="{FF2B5EF4-FFF2-40B4-BE49-F238E27FC236}">
                <a16:creationId xmlns:a16="http://schemas.microsoft.com/office/drawing/2014/main" id="{86052504-F056-48FC-AC81-0E3588E4BA6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5200"/>
              <a:buNone/>
              <a:defRPr sz="5200"/>
            </a:lvl1pPr>
            <a:lvl2pPr algn="ctr">
              <a:lnSpc>
                <a:spcPct val="100000"/>
              </a:lnSpc>
              <a:spcBef>
                <a:spcPts val="0"/>
              </a:spcBef>
              <a:spcAft>
                <a:spcPts val="0"/>
              </a:spcAft>
              <a:buSzPts val="5200"/>
              <a:buNone/>
              <a:defRPr sz="5200"/>
            </a:lvl2pPr>
            <a:lvl3pPr algn="ctr">
              <a:lnSpc>
                <a:spcPct val="100000"/>
              </a:lnSpc>
              <a:spcBef>
                <a:spcPts val="0"/>
              </a:spcBef>
              <a:spcAft>
                <a:spcPts val="0"/>
              </a:spcAft>
              <a:buSzPts val="5200"/>
              <a:buNone/>
              <a:defRPr sz="5200"/>
            </a:lvl3pPr>
            <a:lvl4pPr algn="ctr">
              <a:lnSpc>
                <a:spcPct val="100000"/>
              </a:lnSpc>
              <a:spcBef>
                <a:spcPts val="0"/>
              </a:spcBef>
              <a:spcAft>
                <a:spcPts val="0"/>
              </a:spcAft>
              <a:buSzPts val="5200"/>
              <a:buNone/>
              <a:defRPr sz="5200"/>
            </a:lvl4pPr>
            <a:lvl5pPr algn="ctr">
              <a:lnSpc>
                <a:spcPct val="100000"/>
              </a:lnSpc>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p:txBody>
      </p:sp>
      <p:sp>
        <p:nvSpPr>
          <p:cNvPr id="13" name="Google Shape;13;p3">
            <a:extLst xmlns:a="http://schemas.openxmlformats.org/drawingml/2006/main">
              <a:ext uri="{FF2B5EF4-FFF2-40B4-BE49-F238E27FC236}">
                <a16:creationId xmlns:a16="http://schemas.microsoft.com/office/drawing/2014/main" id="{2753A61D-012B-472A-A02A-0D986225396C}"/>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4" name="Google Shape;14;p3">
            <a:extLst xmlns:a="http://schemas.openxmlformats.org/drawingml/2006/main">
              <a:ext uri="{FF2B5EF4-FFF2-40B4-BE49-F238E27FC236}">
                <a16:creationId xmlns:a16="http://schemas.microsoft.com/office/drawing/2014/main" id="{011331E2-CB82-4B6F-B3A2-5923E1F4064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6" name="Google Shape;16;p4">
            <a:extLst xmlns:a="http://schemas.openxmlformats.org/drawingml/2006/main">
              <a:ext uri="{FF2B5EF4-FFF2-40B4-BE49-F238E27FC236}">
                <a16:creationId xmlns:a16="http://schemas.microsoft.com/office/drawing/2014/main" id="{0968D961-00A5-4450-91B9-34175FC039F4}"/>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3600"/>
            </a:lvl1pPr>
            <a:lvl2pPr algn="ctr">
              <a:lnSpc>
                <a:spcPct val="100000"/>
              </a:lnSpc>
              <a:spcBef>
                <a:spcPts val="0"/>
              </a:spcBef>
              <a:spcAft>
                <a:spcPts val="0"/>
              </a:spcAft>
              <a:buSzPts val="3600"/>
              <a:buNone/>
              <a:defRPr sz="3600"/>
            </a:lvl2pPr>
            <a:lvl3pPr algn="ctr">
              <a:lnSpc>
                <a:spcPct val="100000"/>
              </a:lnSpc>
              <a:spcBef>
                <a:spcPts val="0"/>
              </a:spcBef>
              <a:spcAft>
                <a:spcPts val="0"/>
              </a:spcAft>
              <a:buSzPts val="3600"/>
              <a:buNone/>
              <a:defRPr sz="3600"/>
            </a:lvl3pPr>
            <a:lvl4pPr algn="ctr">
              <a:lnSpc>
                <a:spcPct val="100000"/>
              </a:lnSpc>
              <a:spcBef>
                <a:spcPts val="0"/>
              </a:spcBef>
              <a:spcAft>
                <a:spcPts val="0"/>
              </a:spcAft>
              <a:buSzPts val="3600"/>
              <a:buNone/>
              <a:defRPr sz="3600"/>
            </a:lvl4pPr>
            <a:lvl5pPr algn="ctr">
              <a:lnSpc>
                <a:spcPct val="100000"/>
              </a:lnSpc>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3A09480B-78C1-42CF-B89D-3AA439D937A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BD6FDB6C-8332-40D3-B514-1BC3492243E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E28AA86C-9153-4A09-B26F-C7675837098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317BF6E7-B7DB-4911-AC1C-693C145D506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0A0782FB-66AD-4ADB-97C2-5F18B88AA9A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194DE765-6DE0-4803-9067-BA9E2E857DBD}"/>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5" name="Google Shape;25;p6">
            <a:extLst xmlns:a="http://schemas.openxmlformats.org/drawingml/2006/main">
              <a:ext uri="{FF2B5EF4-FFF2-40B4-BE49-F238E27FC236}">
                <a16:creationId xmlns:a16="http://schemas.microsoft.com/office/drawing/2014/main" id="{820A0F93-E9FC-4B32-9767-CD30A117440F}"/>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6">
            <a:extLst xmlns:a="http://schemas.openxmlformats.org/drawingml/2006/main">
              <a:ext uri="{FF2B5EF4-FFF2-40B4-BE49-F238E27FC236}">
                <a16:creationId xmlns:a16="http://schemas.microsoft.com/office/drawing/2014/main" id="{34E1C7D7-20BD-42FF-A307-F7482CF38D8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8" name="Google Shape;28;p7">
            <a:extLst xmlns:a="http://schemas.openxmlformats.org/drawingml/2006/main">
              <a:ext uri="{FF2B5EF4-FFF2-40B4-BE49-F238E27FC236}">
                <a16:creationId xmlns:a16="http://schemas.microsoft.com/office/drawing/2014/main" id="{273F686D-57EB-44B7-AE4B-0C44D8FD359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9" name="Google Shape;29;p7">
            <a:extLst xmlns:a="http://schemas.openxmlformats.org/drawingml/2006/main">
              <a:ext uri="{FF2B5EF4-FFF2-40B4-BE49-F238E27FC236}">
                <a16:creationId xmlns:a16="http://schemas.microsoft.com/office/drawing/2014/main" id="{E53F6CC7-BF94-4513-AAAF-9F081FD4CAD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31" name="Google Shape;31;p8">
            <a:extLst xmlns:a="http://schemas.openxmlformats.org/drawingml/2006/main">
              <a:ext uri="{FF2B5EF4-FFF2-40B4-BE49-F238E27FC236}">
                <a16:creationId xmlns:a16="http://schemas.microsoft.com/office/drawing/2014/main" id="{1BE24B29-DBC7-453E-B98D-8B5547C39886}"/>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32" name="Google Shape;32;p8">
            <a:extLst xmlns:a="http://schemas.openxmlformats.org/drawingml/2006/main">
              <a:ext uri="{FF2B5EF4-FFF2-40B4-BE49-F238E27FC236}">
                <a16:creationId xmlns:a16="http://schemas.microsoft.com/office/drawing/2014/main" id="{A12479E0-F8CE-4037-A2A5-13AD4F36E070}"/>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3" name="Google Shape;33;p8">
            <a:extLst xmlns:a="http://schemas.openxmlformats.org/drawingml/2006/main">
              <a:ext uri="{FF2B5EF4-FFF2-40B4-BE49-F238E27FC236}">
                <a16:creationId xmlns:a16="http://schemas.microsoft.com/office/drawing/2014/main" id="{F4FE42EC-F037-47C5-8F6C-A1E5A276DC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5" name="Google Shape;35;p9">
            <a:extLst xmlns:a="http://schemas.openxmlformats.org/drawingml/2006/main">
              <a:ext uri="{FF2B5EF4-FFF2-40B4-BE49-F238E27FC236}">
                <a16:creationId xmlns:a16="http://schemas.microsoft.com/office/drawing/2014/main" id="{6C2AC705-2171-44C0-9421-BF8DDE923C72}"/>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SzPts val="4800"/>
              <a:buNone/>
              <a:defRPr sz="4800"/>
            </a:lvl1pPr>
            <a:lvl2pPr algn="l">
              <a:lnSpc>
                <a:spcPct val="100000"/>
              </a:lnSpc>
              <a:spcBef>
                <a:spcPts val="0"/>
              </a:spcBef>
              <a:spcAft>
                <a:spcPts val="0"/>
              </a:spcAft>
              <a:buSzPts val="4800"/>
              <a:buNone/>
              <a:defRPr sz="4800"/>
            </a:lvl2pPr>
            <a:lvl3pPr algn="l">
              <a:lnSpc>
                <a:spcPct val="100000"/>
              </a:lnSpc>
              <a:spcBef>
                <a:spcPts val="0"/>
              </a:spcBef>
              <a:spcAft>
                <a:spcPts val="0"/>
              </a:spcAft>
              <a:buSzPts val="4800"/>
              <a:buNone/>
              <a:defRPr sz="4800"/>
            </a:lvl3pPr>
            <a:lvl4pPr algn="l">
              <a:lnSpc>
                <a:spcPct val="100000"/>
              </a:lnSpc>
              <a:spcBef>
                <a:spcPts val="0"/>
              </a:spcBef>
              <a:spcAft>
                <a:spcPts val="0"/>
              </a:spcAft>
              <a:buSzPts val="4800"/>
              <a:buNone/>
              <a:defRPr sz="4800"/>
            </a:lvl4pPr>
            <a:lvl5pPr algn="l">
              <a:lnSpc>
                <a:spcPct val="100000"/>
              </a:lnSpc>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p:txBody>
      </p:sp>
      <p:sp>
        <p:nvSpPr>
          <p:cNvPr id="36" name="Google Shape;36;p9">
            <a:extLst xmlns:a="http://schemas.openxmlformats.org/drawingml/2006/main">
              <a:ext uri="{FF2B5EF4-FFF2-40B4-BE49-F238E27FC236}">
                <a16:creationId xmlns:a16="http://schemas.microsoft.com/office/drawing/2014/main" id="{858454BA-D39D-4CE2-BBE9-7CA53DAECB7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8" name="Google Shape;38;p10">
            <a:extLst xmlns:a="http://schemas.openxmlformats.org/drawingml/2006/main">
              <a:ext uri="{FF2B5EF4-FFF2-40B4-BE49-F238E27FC236}">
                <a16:creationId xmlns:a16="http://schemas.microsoft.com/office/drawing/2014/main" id="{F2593582-7874-41E6-853F-B421E94E6CB1}"/>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9" name="Google Shape;39;p10">
            <a:extLst xmlns:a="http://schemas.openxmlformats.org/drawingml/2006/main">
              <a:ext uri="{FF2B5EF4-FFF2-40B4-BE49-F238E27FC236}">
                <a16:creationId xmlns:a16="http://schemas.microsoft.com/office/drawing/2014/main" id="{449E19E9-6D02-4FC7-AB1B-737E4A4DCF45}"/>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4200"/>
              <a:buNone/>
              <a:defRPr sz="4200"/>
            </a:lvl1pPr>
            <a:lvl2pPr algn="ctr">
              <a:lnSpc>
                <a:spcPct val="100000"/>
              </a:lnSpc>
              <a:spcBef>
                <a:spcPts val="0"/>
              </a:spcBef>
              <a:spcAft>
                <a:spcPts val="0"/>
              </a:spcAft>
              <a:buSzPts val="4200"/>
              <a:buNone/>
              <a:defRPr sz="4200"/>
            </a:lvl2pPr>
            <a:lvl3pPr algn="ctr">
              <a:lnSpc>
                <a:spcPct val="100000"/>
              </a:lnSpc>
              <a:spcBef>
                <a:spcPts val="0"/>
              </a:spcBef>
              <a:spcAft>
                <a:spcPts val="0"/>
              </a:spcAft>
              <a:buSzPts val="4200"/>
              <a:buNone/>
              <a:defRPr sz="4200"/>
            </a:lvl3pPr>
            <a:lvl4pPr algn="ctr">
              <a:lnSpc>
                <a:spcPct val="100000"/>
              </a:lnSpc>
              <a:spcBef>
                <a:spcPts val="0"/>
              </a:spcBef>
              <a:spcAft>
                <a:spcPts val="0"/>
              </a:spcAft>
              <a:buSzPts val="4200"/>
              <a:buNone/>
              <a:defRPr sz="4200"/>
            </a:lvl4pPr>
            <a:lvl5pPr algn="ctr">
              <a:lnSpc>
                <a:spcPct val="100000"/>
              </a:lnSpc>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p:txBody>
      </p:sp>
      <p:sp>
        <p:nvSpPr>
          <p:cNvPr id="40" name="Google Shape;40;p10">
            <a:extLst xmlns:a="http://schemas.openxmlformats.org/drawingml/2006/main">
              <a:ext uri="{FF2B5EF4-FFF2-40B4-BE49-F238E27FC236}">
                <a16:creationId xmlns:a16="http://schemas.microsoft.com/office/drawing/2014/main" id="{750542EC-27F3-4A67-8C0F-8B33049E68A3}"/>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41" name="Google Shape;41;p10">
            <a:extLst xmlns:a="http://schemas.openxmlformats.org/drawingml/2006/main">
              <a:ext uri="{FF2B5EF4-FFF2-40B4-BE49-F238E27FC236}">
                <a16:creationId xmlns:a16="http://schemas.microsoft.com/office/drawing/2014/main" id="{8E7FD43F-D3AE-4931-B7C8-D45B49CC2EED}"/>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42" name="Google Shape;42;p10">
            <a:extLst xmlns:a="http://schemas.openxmlformats.org/drawingml/2006/main">
              <a:ext uri="{FF2B5EF4-FFF2-40B4-BE49-F238E27FC236}">
                <a16:creationId xmlns:a16="http://schemas.microsoft.com/office/drawing/2014/main" id="{6D88BD2A-9C01-4D1A-B13D-CC217FC814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4" name="Google Shape;44;p11">
            <a:extLst xmlns:a="http://schemas.openxmlformats.org/drawingml/2006/main">
              <a:ext uri="{FF2B5EF4-FFF2-40B4-BE49-F238E27FC236}">
                <a16:creationId xmlns:a16="http://schemas.microsoft.com/office/drawing/2014/main" id="{1422EC93-069F-4D80-84F2-3960D321C1C8}"/>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stStyle>
          <a:p xmlns:a="http://schemas.openxmlformats.org/drawingml/2006/main"/>
        </p:txBody>
      </p:sp>
      <p:sp>
        <p:nvSpPr>
          <p:cNvPr id="45" name="Google Shape;45;p11">
            <a:extLst xmlns:a="http://schemas.openxmlformats.org/drawingml/2006/main">
              <a:ext uri="{FF2B5EF4-FFF2-40B4-BE49-F238E27FC236}">
                <a16:creationId xmlns:a16="http://schemas.microsoft.com/office/drawing/2014/main" id="{178A1946-0F75-42F0-BA82-C99039C9E49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7" name="Google Shape;47;p12">
            <a:extLst xmlns:a="http://schemas.openxmlformats.org/drawingml/2006/main">
              <a:ext uri="{FF2B5EF4-FFF2-40B4-BE49-F238E27FC236}">
                <a16:creationId xmlns:a16="http://schemas.microsoft.com/office/drawing/2014/main" id="{EC0E2EC3-6EC7-46FB-9320-8F1A6D8C510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SzPts val="12000"/>
              <a:buNone/>
              <a:defRPr sz="12000"/>
            </a:lvl1pPr>
            <a:lvl2pPr algn="ctr">
              <a:lnSpc>
                <a:spcPct val="100000"/>
              </a:lnSpc>
              <a:spcBef>
                <a:spcPts val="0"/>
              </a:spcBef>
              <a:spcAft>
                <a:spcPts val="0"/>
              </a:spcAft>
              <a:buSzPts val="12000"/>
              <a:buNone/>
              <a:defRPr sz="12000"/>
            </a:lvl2pPr>
            <a:lvl3pPr algn="ctr">
              <a:lnSpc>
                <a:spcPct val="100000"/>
              </a:lnSpc>
              <a:spcBef>
                <a:spcPts val="0"/>
              </a:spcBef>
              <a:spcAft>
                <a:spcPts val="0"/>
              </a:spcAft>
              <a:buSzPts val="12000"/>
              <a:buNone/>
              <a:defRPr sz="12000"/>
            </a:lvl3pPr>
            <a:lvl4pPr algn="ctr">
              <a:lnSpc>
                <a:spcPct val="100000"/>
              </a:lnSpc>
              <a:spcBef>
                <a:spcPts val="0"/>
              </a:spcBef>
              <a:spcAft>
                <a:spcPts val="0"/>
              </a:spcAft>
              <a:buSzPts val="12000"/>
              <a:buNone/>
              <a:defRPr sz="12000"/>
            </a:lvl4pPr>
            <a:lvl5pPr algn="ctr">
              <a:lnSpc>
                <a:spcPct val="100000"/>
              </a:lnSpc>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r>
              <a:t>xx%</a:t>
            </a:r>
          </a:p>
        </p:txBody>
      </p:sp>
      <p:sp>
        <p:nvSpPr>
          <p:cNvPr id="48" name="Google Shape;48;p12">
            <a:extLst xmlns:a="http://schemas.openxmlformats.org/drawingml/2006/main">
              <a:ext uri="{FF2B5EF4-FFF2-40B4-BE49-F238E27FC236}">
                <a16:creationId xmlns:a16="http://schemas.microsoft.com/office/drawing/2014/main" id="{40AA5263-166C-4E66-BEBB-483C40BAD6E0}"/>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lnSpc>
                <a:spcPct val="115000"/>
              </a:lnSpc>
              <a:spcBef>
                <a:spcPts val="0"/>
              </a:spcBef>
              <a:spcAft>
                <a:spcPts val="0"/>
              </a:spcAft>
              <a:buSzPts val="1800"/>
              <a:buChar char="●"/>
              <a:defRPr/>
            </a:lvl1pPr>
            <a:lvl2pPr marL="914400" indent="-317500" algn="ctr">
              <a:lnSpc>
                <a:spcPct val="115000"/>
              </a:lnSpc>
              <a:spcBef>
                <a:spcPts val="0"/>
              </a:spcBef>
              <a:spcAft>
                <a:spcPts val="0"/>
              </a:spcAft>
              <a:buSzPts val="1400"/>
              <a:buChar char="○"/>
              <a:defRPr/>
            </a:lvl2pPr>
            <a:lvl3pPr marL="1371600" indent="-317500" algn="ctr">
              <a:lnSpc>
                <a:spcPct val="115000"/>
              </a:lnSpc>
              <a:spcBef>
                <a:spcPts val="0"/>
              </a:spcBef>
              <a:spcAft>
                <a:spcPts val="0"/>
              </a:spcAft>
              <a:buSzPts val="1400"/>
              <a:buChar char="■"/>
              <a:defRPr/>
            </a:lvl3pPr>
            <a:lvl4pPr marL="1828800" indent="-317500" algn="ctr">
              <a:lnSpc>
                <a:spcPct val="115000"/>
              </a:lnSpc>
              <a:spcBef>
                <a:spcPts val="0"/>
              </a:spcBef>
              <a:spcAft>
                <a:spcPts val="0"/>
              </a:spcAft>
              <a:buSzPts val="1400"/>
              <a:buChar char="●"/>
              <a:defRPr/>
            </a:lvl4pPr>
            <a:lvl5pPr marL="2286000" indent="-317500" algn="ctr">
              <a:lnSpc>
                <a:spcPct val="115000"/>
              </a:lnSpc>
              <a:spcBef>
                <a:spcPts val="0"/>
              </a:spcBef>
              <a:spcAft>
                <a:spcPts val="0"/>
              </a:spcAft>
              <a:buSzPts val="1400"/>
              <a:buChar char="○"/>
              <a:defRPr/>
            </a:lvl5pPr>
            <a:lvl6pPr marL="2743200" indent="-317500" algn="ctr">
              <a:lnSpc>
                <a:spcPct val="115000"/>
              </a:lnSpc>
              <a:spcBef>
                <a:spcPts val="0"/>
              </a:spcBef>
              <a:spcAft>
                <a:spcPts val="0"/>
              </a:spcAft>
              <a:buSzPts val="1400"/>
              <a:buChar char="■"/>
              <a:defRPr/>
            </a:lvl6pPr>
            <a:lvl7pPr marL="3200400" indent="-317500" algn="ctr">
              <a:lnSpc>
                <a:spcPct val="115000"/>
              </a:lnSpc>
              <a:spcBef>
                <a:spcPts val="0"/>
              </a:spcBef>
              <a:spcAft>
                <a:spcPts val="0"/>
              </a:spcAft>
              <a:buSzPts val="1400"/>
              <a:buChar char="●"/>
              <a:defRPr/>
            </a:lvl7pPr>
            <a:lvl8pPr marL="3657600" indent="-317500" algn="ctr">
              <a:lnSpc>
                <a:spcPct val="115000"/>
              </a:lnSpc>
              <a:spcBef>
                <a:spcPts val="0"/>
              </a:spcBef>
              <a:spcAft>
                <a:spcPts val="0"/>
              </a:spcAft>
              <a:buSzPts val="1400"/>
              <a:buChar char="○"/>
              <a:defRPr/>
            </a:lvl8pPr>
            <a:lvl9pPr marL="4114800" indent="-317500" algn="ctr">
              <a:lnSpc>
                <a:spcPct val="115000"/>
              </a:lnSpc>
              <a:spcBef>
                <a:spcPts val="0"/>
              </a:spcBef>
              <a:spcAft>
                <a:spcPts val="0"/>
              </a:spcAft>
              <a:buSzPts val="1400"/>
              <a:buChar char="■"/>
              <a:defRPr/>
            </a:lvl9pPr>
          </a:lstStyle>
          <a:p xmlns:a="http://schemas.openxmlformats.org/drawingml/2006/main"/>
        </p:txBody>
      </p:sp>
      <p:sp>
        <p:nvSpPr>
          <p:cNvPr id="49" name="Google Shape;49;p12">
            <a:extLst xmlns:a="http://schemas.openxmlformats.org/drawingml/2006/main">
              <a:ext uri="{FF2B5EF4-FFF2-40B4-BE49-F238E27FC236}">
                <a16:creationId xmlns:a16="http://schemas.microsoft.com/office/drawing/2014/main" id="{0F23A0B3-73B2-4B7C-B0FC-9469D617782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4915ccf14b4547" /><Relationship Type="http://schemas.openxmlformats.org/officeDocument/2006/relationships/slideLayout" Target="/ppt/slideLayouts/slideLayout1.xml" Id="R427586544e764e12" /><Relationship Type="http://schemas.openxmlformats.org/officeDocument/2006/relationships/slideLayout" Target="/ppt/slideLayouts/slideLayout2.xml" Id="R01751f7153c743c7" /><Relationship Type="http://schemas.openxmlformats.org/officeDocument/2006/relationships/slideLayout" Target="/ppt/slideLayouts/slideLayout3.xml" Id="R7af8fc9c94f74b2f" /><Relationship Type="http://schemas.openxmlformats.org/officeDocument/2006/relationships/slideLayout" Target="/ppt/slideLayouts/slideLayout4.xml" Id="R3cf02ba936964acc" /><Relationship Type="http://schemas.openxmlformats.org/officeDocument/2006/relationships/slideLayout" Target="/ppt/slideLayouts/slideLayout5.xml" Id="Rea56498e6ffc40cd" /><Relationship Type="http://schemas.openxmlformats.org/officeDocument/2006/relationships/slideLayout" Target="/ppt/slideLayouts/slideLayout6.xml" Id="R601b19b1a38f4bee" /><Relationship Type="http://schemas.openxmlformats.org/officeDocument/2006/relationships/slideLayout" Target="/ppt/slideLayouts/slideLayout7.xml" Id="Rad7ffe5b1ac742bb" /><Relationship Type="http://schemas.openxmlformats.org/officeDocument/2006/relationships/slideLayout" Target="/ppt/slideLayouts/slideLayout8.xml" Id="R3b063047b0ae49e6" /><Relationship Type="http://schemas.openxmlformats.org/officeDocument/2006/relationships/slideLayout" Target="/ppt/slideLayouts/slideLayout9.xml" Id="Rfa02d6136f3b425b" /><Relationship Type="http://schemas.openxmlformats.org/officeDocument/2006/relationships/slideLayout" Target="/ppt/slideLayouts/slideLayout10.xml" Id="Rf89bcec673934744" /><Relationship Type="http://schemas.openxmlformats.org/officeDocument/2006/relationships/slideLayout" Target="/ppt/slideLayouts/slideLayout11.xml" Id="R72741b6420044870"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C3931DC1-400A-469F-82E8-63EBDDD5D81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1pPr>
            <a:lvl2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2pPr>
            <a:lvl3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3pPr>
            <a:lvl4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4pPr>
            <a:lvl5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5pPr>
            <a:lvl6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6pPr>
            <a:lvl7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7pPr>
            <a:lvl8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8pPr>
            <a:lvl9pPr marR="0" algn="l">
              <a:lnSpc>
                <a:spcPct val="100000"/>
              </a:lnSpc>
              <a:spcBef>
                <a:spcPts val="0"/>
              </a:spcBef>
              <a:spcAft>
                <a:spcPts val="0"/>
              </a:spcAft>
              <a:buClr>
                <a:schemeClr val="dk1"/>
              </a:buClr>
              <a:buSzPts val="2800"/>
              <a:buFont typeface="Arial"/>
              <a:buNone/>
              <a:defRPr sz="2800" b="0" i="0" u="none" cap="none">
                <a:solidFill>
                  <a:schemeClr val="dk1"/>
                </a:solidFill>
                <a:latin typeface="Arial"/>
                <a:ea typeface="Arial"/>
                <a:cs typeface="Aria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8C0CF03-0CC1-49FB-8BC2-2406F76B3684}"/>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Arial"/>
              <a:buChar char="●"/>
              <a:defRPr sz="1800" b="0" i="0" u="none" cap="none">
                <a:solidFill>
                  <a:schemeClr val="dk2"/>
                </a:solidFill>
                <a:latin typeface="Arial"/>
                <a:ea typeface="Arial"/>
                <a:cs typeface="Arial"/>
              </a:defRPr>
            </a:lvl1pPr>
            <a:lvl2pPr marL="914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2pPr>
            <a:lvl3pPr marL="1371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3pPr>
            <a:lvl4pPr marL="1828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4pPr>
            <a:lvl5pPr marL="22860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5pPr>
            <a:lvl6pPr marL="27432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6pPr>
            <a:lvl7pPr marL="32004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7pPr>
            <a:lvl8pPr marL="36576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8pPr>
            <a:lvl9pPr marL="4114800" marR="0" indent="-317500" algn="l">
              <a:lnSpc>
                <a:spcPct val="115000"/>
              </a:lnSpc>
              <a:spcBef>
                <a:spcPts val="0"/>
              </a:spcBef>
              <a:spcAft>
                <a:spcPts val="0"/>
              </a:spcAft>
              <a:buClr>
                <a:schemeClr val="dk2"/>
              </a:buClr>
              <a:buSzPts val="1400"/>
              <a:buFont typeface="Arial"/>
              <a:buChar char="■"/>
              <a:defRPr sz="1400" b="0" i="0" u="none" cap="none">
                <a:solidFill>
                  <a:schemeClr val="dk2"/>
                </a:solidFill>
                <a:latin typeface="Arial"/>
                <a:ea typeface="Arial"/>
                <a:cs typeface="Aria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9A146B2A-F15B-4798-A9E7-F2424C4FB0B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27586544e764e12"/>
    <p:sldLayoutId xmlns:r="http://schemas.openxmlformats.org/officeDocument/2006/relationships" id="2147483650" r:id="R01751f7153c743c7"/>
    <p:sldLayoutId xmlns:r="http://schemas.openxmlformats.org/officeDocument/2006/relationships" id="2147483651" r:id="R7af8fc9c94f74b2f"/>
    <p:sldLayoutId xmlns:r="http://schemas.openxmlformats.org/officeDocument/2006/relationships" id="2147483652" r:id="R3cf02ba936964acc"/>
    <p:sldLayoutId xmlns:r="http://schemas.openxmlformats.org/officeDocument/2006/relationships" id="2147483653" r:id="Rea56498e6ffc40cd"/>
    <p:sldLayoutId xmlns:r="http://schemas.openxmlformats.org/officeDocument/2006/relationships" id="2147483654" r:id="R601b19b1a38f4bee"/>
    <p:sldLayoutId xmlns:r="http://schemas.openxmlformats.org/officeDocument/2006/relationships" id="2147483655" r:id="Rad7ffe5b1ac742bb"/>
    <p:sldLayoutId xmlns:r="http://schemas.openxmlformats.org/officeDocument/2006/relationships" id="2147483656" r:id="R3b063047b0ae49e6"/>
    <p:sldLayoutId xmlns:r="http://schemas.openxmlformats.org/officeDocument/2006/relationships" id="2147483657" r:id="Rfa02d6136f3b425b"/>
    <p:sldLayoutId xmlns:r="http://schemas.openxmlformats.org/officeDocument/2006/relationships" id="2147483658" r:id="Rf89bcec673934744"/>
    <p:sldLayoutId xmlns:r="http://schemas.openxmlformats.org/officeDocument/2006/relationships" id="2147483659" r:id="R72741b642004487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d2e5074fb84b17" /><Relationship Type="http://schemas.openxmlformats.org/officeDocument/2006/relationships/image" Target="/ppt/media/image.png" Id="R6a0155f6975247b2" /><Relationship Type="http://schemas.openxmlformats.org/officeDocument/2006/relationships/notesSlide" Target="/ppt/notesSlides/notesSlide1.xml" Id="R2ad99fa4957f477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8fdadc8dde4a02" /><Relationship Type="http://schemas.openxmlformats.org/officeDocument/2006/relationships/image" Target="/ppt/media/image2.png" Id="R5a7bd50a003d47f1" /><Relationship Type="http://schemas.openxmlformats.org/officeDocument/2006/relationships/notesSlide" Target="/ppt/notesSlides/notesSlide2.xml" Id="R406842a9c87d4f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ff2aebb8b8487f" /><Relationship Type="http://schemas.openxmlformats.org/officeDocument/2006/relationships/image" Target="/ppt/media/image2.png" Id="R7f41b82cdc534b8a" /><Relationship Type="http://schemas.openxmlformats.org/officeDocument/2006/relationships/notesSlide" Target="/ppt/notesSlides/notesSlide3.xml" Id="Rf30725b1d08547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fab94a92a44348" /><Relationship Type="http://schemas.openxmlformats.org/officeDocument/2006/relationships/image" Target="/ppt/media/image2.png" Id="Rf7afb93bdf4a444e" /><Relationship Type="http://schemas.openxmlformats.org/officeDocument/2006/relationships/notesSlide" Target="/ppt/notesSlides/notesSlide4.xml" Id="R4d2ca7ff05de47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c3a61baf2c4853" /><Relationship Type="http://schemas.openxmlformats.org/officeDocument/2006/relationships/image" Target="/ppt/media/image2.png" Id="Rdf4a2a9658054013" /><Relationship Type="http://schemas.openxmlformats.org/officeDocument/2006/relationships/notesSlide" Target="/ppt/notesSlides/notesSlide5.xml" Id="R8eb364ef302b48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26c2dd49c84a9e" /><Relationship Type="http://schemas.openxmlformats.org/officeDocument/2006/relationships/image" Target="/ppt/media/image3.png" Id="R500f94a28e03431c" /><Relationship Type="http://schemas.openxmlformats.org/officeDocument/2006/relationships/notesSlide" Target="/ppt/notesSlides/notesSlide6.xml" Id="R74bcf7c771de4cd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0" name="Google Shape;54;p13"/>
          <p:cNvPicPr>
            <a:picLocks xmlns:a="http://schemas.openxmlformats.org/drawingml/2006/main" noChangeAspect="1"/>
          </p:cNvPicPr>
          <p:nvPr/>
        </p:nvPicPr>
        <p:blipFill rotWithShape="1">
          <a:blip xmlns:r="http://schemas.openxmlformats.org/officeDocument/2006/relationships" xmlns:a="http://schemas.openxmlformats.org/drawingml/2006/main" r:embed="R6a0155f6975247b2">
            <a:alphaModFix/>
          </a:blip>
          <a:srcRect xmlns:a="http://schemas.openxmlformats.org/drawingml/2006/main" l="0" t="0" r="0" b="0"/>
          <a:stretch xmlns:a="http://schemas.openxmlformats.org/drawingml/2006/main"/>
        </p:blipFill>
        <p:spPr>
          <a:xfrm xmlns:a="http://schemas.openxmlformats.org/drawingml/2006/main">
            <a:off x="-12" y="0"/>
            <a:ext cx="9144018" cy="5143501"/>
          </a:xfrm>
          <a:prstGeom xmlns:a="http://schemas.openxmlformats.org/drawingml/2006/main" prst="rect">
            <a:avLst/>
          </a:prstGeom>
          <a:ln xmlns:a="http://schemas.openxmlformats.org/drawingml/2006/main">
            <a:noFill/>
          </a:ln>
        </p:spPr>
      </p:pic>
      <p:sp>
        <p:nvSpPr>
          <p:cNvPr id="55" name="Google Shape;55;p13">
            <a:extLst xmlns:a="http://schemas.openxmlformats.org/drawingml/2006/main">
              <a:ext uri="{FF2B5EF4-FFF2-40B4-BE49-F238E27FC236}">
                <a16:creationId xmlns:a16="http://schemas.microsoft.com/office/drawing/2014/main" id="{F8C0711D-3F86-473A-9E7E-1DE96A0EB8E4}"/>
              </a:ext>
            </a:extLst>
          </p:cNvPr>
          <p:cNvSpPr>
            <a:spLocks xmlns:a="http://schemas.openxmlformats.org/drawingml/2006/main" noGrp="1"/>
          </p:cNvSpPr>
          <p:nvPr/>
        </p:nvSpPr>
        <p:spPr>
          <a:xfrm xmlns:a="http://schemas.openxmlformats.org/drawingml/2006/main">
            <a:off x="402808" y="3192600"/>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Name: hallucination · Project: SAARTHI</a:t>
            </a:r>
            <a:endParaRPr sz="1343" b="0" i="0" u="none" cap="none">
              <a:solidFill>
                <a:srgbClr val="202729"/>
              </a:solidFill>
              <a:latin typeface="Manrope SemiBold"/>
              <a:ea typeface="Manrope SemiBold"/>
              <a:cs typeface="Manrope SemiBold"/>
            </a:endParaRPr>
          </a:p>
        </p:txBody>
      </p:sp>
      <p:sp>
        <p:nvSpPr>
          <p:cNvPr id="56" name="Google Shape;56;p13">
            <a:extLst xmlns:a="http://schemas.openxmlformats.org/drawingml/2006/main">
              <a:ext uri="{FF2B5EF4-FFF2-40B4-BE49-F238E27FC236}">
                <a16:creationId xmlns:a16="http://schemas.microsoft.com/office/drawing/2014/main" id="{9DF79B25-8EEE-4B2F-9998-35F7A7C851BC}"/>
              </a:ext>
            </a:extLst>
          </p:cNvPr>
          <p:cNvSpPr>
            <a:spLocks xmlns:a="http://schemas.openxmlformats.org/drawingml/2006/main" noGrp="1"/>
          </p:cNvSpPr>
          <p:nvPr/>
        </p:nvSpPr>
        <p:spPr>
          <a:xfrm xmlns:a="http://schemas.openxmlformats.org/drawingml/2006/main">
            <a:off x="402788" y="42501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Problem Statement: 04 · Patient and Member 360</a:t>
            </a:r>
            <a:endParaRPr sz="1343" b="0" i="0" u="none" cap="none">
              <a:solidFill>
                <a:srgbClr val="202729"/>
              </a:solidFill>
              <a:latin typeface="Manrope SemiBold"/>
              <a:ea typeface="Manrope SemiBold"/>
              <a:cs typeface="Manrope SemiBold"/>
            </a:endParaRPr>
          </a:p>
        </p:txBody>
      </p:sp>
      <p:sp>
        <p:nvSpPr>
          <p:cNvPr id="57" name="Google Shape;57;p13">
            <a:extLst xmlns:a="http://schemas.openxmlformats.org/drawingml/2006/main">
              <a:ext uri="{FF2B5EF4-FFF2-40B4-BE49-F238E27FC236}">
                <a16:creationId xmlns:a16="http://schemas.microsoft.com/office/drawing/2014/main" id="{461DA46E-1A2A-43DF-B8D3-C5CFFC4522C4}"/>
              </a:ext>
            </a:extLst>
          </p:cNvPr>
          <p:cNvSpPr>
            <a:spLocks xmlns:a="http://schemas.openxmlformats.org/drawingml/2006/main" noGrp="1"/>
          </p:cNvSpPr>
          <p:nvPr/>
        </p:nvSpPr>
        <p:spPr>
          <a:xfrm xmlns:a="http://schemas.openxmlformats.org/drawingml/2006/main">
            <a:off x="402798" y="3534656"/>
            <a:ext cx="7152900" cy="37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8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Leader: Daksha D Talekar</a:t>
            </a:r>
            <a:endParaRPr sz="1343" b="0" i="0" u="none" cap="none">
              <a:solidFill>
                <a:srgbClr val="202729"/>
              </a:solidFill>
              <a:latin typeface="Manrope SemiBold"/>
              <a:ea typeface="Manrope SemiBold"/>
              <a:cs typeface="Manrope SemiBold"/>
            </a:endParaRPr>
          </a:p>
        </p:txBody>
      </p:sp>
      <p:sp>
        <p:nvSpPr>
          <p:cNvPr id="58" name="Google Shape;58;p13">
            <a:extLst xmlns:a="http://schemas.openxmlformats.org/drawingml/2006/main">
              <a:ext uri="{FF2B5EF4-FFF2-40B4-BE49-F238E27FC236}">
                <a16:creationId xmlns:a16="http://schemas.microsoft.com/office/drawing/2014/main" id="{92E5BB80-5175-414E-8639-292E2C51EEBD}"/>
              </a:ext>
            </a:extLst>
          </p:cNvPr>
          <p:cNvSpPr>
            <a:spLocks xmlns:a="http://schemas.openxmlformats.org/drawingml/2006/main" noGrp="1"/>
          </p:cNvSpPr>
          <p:nvPr/>
        </p:nvSpPr>
        <p:spPr>
          <a:xfrm xmlns:a="http://schemas.openxmlformats.org/drawingml/2006/main">
            <a:off x="402788" y="3907261"/>
            <a:ext cx="71529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6750" tIns="76750" rIns="76750" bIns="76750" anchor="t">
            <a:normAutofit fontScale="100000"/>
          </a:bodyPr>
          <a:lstStyle xmlns:a="http://schemas.openxmlformats.org/drawingml/2006/main"/>
          <a:p xmlns:a="http://schemas.openxmlformats.org/drawingml/2006/main">
            <a:pPr marL="0" marR="0" lvl="0" indent="0" algn="l">
              <a:lnSpc>
                <a:spcPct val="70000"/>
              </a:lnSpc>
              <a:spcBef>
                <a:spcPts val="0"/>
              </a:spcBef>
              <a:spcAft>
                <a:spcPts val="0"/>
              </a:spcAft>
              <a:buClr>
                <a:srgbClr val="000000"/>
              </a:buClr>
              <a:buSzPts val="1343"/>
              <a:buFont typeface="Arial"/>
              <a:buNone/>
            </a:pPr>
            <a:r>
              <a:rPr sz="1343" b="0" i="0" u="none" cap="none">
                <a:solidFill>
                  <a:srgbClr val="202729"/>
                </a:solidFill>
                <a:latin typeface="Manrope SemiBold"/>
                <a:ea typeface="Manrope SemiBold"/>
                <a:cs typeface="Manrope SemiBold"/>
              </a:rPr>
              <a:t>Team Size: 3</a:t>
            </a:r>
            <a:endParaRPr sz="1343" b="0" i="0" u="none" cap="none">
              <a:solidFill>
                <a:srgbClr val="202729"/>
              </a:solidFill>
              <a:latin typeface="Manrope SemiBold"/>
              <a:ea typeface="Manrope SemiBold"/>
              <a:cs typeface="Manrope SemiBold"/>
            </a:endParaRPr>
          </a:p>
        </p:txBody>
      </p:sp>
    </p:spTree>
    <p:extLst>
      <p:ext uri="{BB962C8B-B14F-4D97-AF65-F5344CB8AC3E}">
        <p14:creationId xmlns:p14="http://schemas.microsoft.com/office/powerpoint/2010/main" val="6465796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73" name="Google Shape;63;p14"/>
          <p:cNvPicPr>
            <a:picLocks xmlns:a="http://schemas.openxmlformats.org/drawingml/2006/main" noChangeAspect="1"/>
          </p:cNvPicPr>
          <p:nvPr/>
        </p:nvPicPr>
        <p:blipFill rotWithShape="1">
          <a:blip xmlns:r="http://schemas.openxmlformats.org/officeDocument/2006/relationships" xmlns:a="http://schemas.openxmlformats.org/drawingml/2006/main" r:embed="R5a7bd50a003d47f1">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64" name="Google Shape;64;p14">
            <a:extLst xmlns:a="http://schemas.openxmlformats.org/drawingml/2006/main">
              <a:ext uri="{FF2B5EF4-FFF2-40B4-BE49-F238E27FC236}">
                <a16:creationId xmlns:a16="http://schemas.microsoft.com/office/drawing/2014/main" id="{8D281BC2-1993-4A18-8051-29B37B66F9CD}"/>
              </a:ext>
            </a:extLst>
          </p:cNvPr>
          <p:cNvSpPr>
            <a:spLocks xmlns:a="http://schemas.openxmlformats.org/drawingml/2006/main" noGrp="1"/>
          </p:cNvSpPr>
          <p:nvPr/>
        </p:nvSpPr>
        <p:spPr>
          <a:xfrm xmlns:a="http://schemas.openxmlformats.org/drawingml/2006/main">
            <a:off x="329100" y="600420"/>
            <a:ext cx="8485800" cy="4296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marR="0" lvl="0" indent="0" algn="l">
              <a:lnSpc>
                <a:spcPct val="115000"/>
              </a:lnSpc>
              <a:spcBef>
                <a:spcPts val="0"/>
              </a:spcBef>
              <a:spcAft>
                <a:spcPts val="0"/>
              </a:spcAft>
              <a:buClr>
                <a:srgbClr val="000000"/>
              </a:buClr>
              <a:buSzPct val="55000"/>
              <a:buFont typeface="Arial"/>
              <a:buNone/>
            </a:pPr>
            <a:r>
              <a:rPr sz="1700" b="1" i="0" u="none" cap="none">
                <a:solidFill>
                  <a:srgbClr val="202729"/>
                </a:solidFill>
                <a:latin typeface="Manrope"/>
                <a:ea typeface="Manrope"/>
                <a:cs typeface="Manrope"/>
              </a:rPr>
              <a:t/>
            </a:r>
            <a:endParaRPr sz="1442" b="1" i="1" u="none" cap="none">
              <a:solidFill>
                <a:srgbClr val="202729"/>
              </a:solidFill>
              <a:latin typeface="Manrope"/>
              <a:ea typeface="Manrope"/>
              <a:cs typeface="Manrope"/>
            </a:endParaRPr>
          </a:p>
        </p:txBody>
      </p:sp>
      <p:sp>
        <p:nvSpPr>
          <p:cNvPr id="66" name="">
            <a:extLst xmlns:a="http://schemas.openxmlformats.org/drawingml/2006/main">
              <a:ext uri="{FF2B5EF4-FFF2-40B4-BE49-F238E27FC236}">
                <a16:creationId xmlns:a16="http://schemas.microsoft.com/office/drawing/2014/main" id="{EC82A058-E88F-405B-85FC-6B47FDF47596}"/>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Care coordination before the next visit</a:t>
            </a:r>
          </a:p>
        </p:txBody>
      </p:sp>
      <p:sp>
        <p:nvSpPr>
          <p:cNvPr id="67" name="">
            <a:extLst xmlns:a="http://schemas.openxmlformats.org/drawingml/2006/main">
              <a:ext uri="{FF2B5EF4-FFF2-40B4-BE49-F238E27FC236}">
                <a16:creationId xmlns:a16="http://schemas.microsoft.com/office/drawing/2014/main" id="{0DEEF295-F288-4854-8ECE-9ECE85E94164}"/>
              </a:ext>
            </a:extLst>
          </p:cNvPr>
          <p:cNvSpPr>
            <a:spLocks xmlns:a="http://schemas.openxmlformats.org/drawingml/2006/main" noGrp="1"/>
          </p:cNvSpPr>
          <p:nvPr/>
        </p:nvSpPr>
        <p:spPr>
          <a:xfrm xmlns:a="http://schemas.openxmlformats.org/drawingml/2006/main">
            <a:off x="400050" y="14287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The user</a:t>
            </a:r>
          </a:p>
        </p:txBody>
      </p:sp>
      <p:sp>
        <p:nvSpPr>
          <p:cNvPr id="68" name="">
            <a:extLst xmlns:a="http://schemas.openxmlformats.org/drawingml/2006/main">
              <a:ext uri="{FF2B5EF4-FFF2-40B4-BE49-F238E27FC236}">
                <a16:creationId xmlns:a16="http://schemas.microsoft.com/office/drawing/2014/main" id="{DD4E039A-CA3B-4C87-92A8-4F0BE9A83079}"/>
              </a:ext>
            </a:extLst>
          </p:cNvPr>
          <p:cNvSpPr>
            <a:spLocks xmlns:a="http://schemas.openxmlformats.org/drawingml/2006/main" noGrp="1"/>
          </p:cNvSpPr>
          <p:nvPr/>
        </p:nvSpPr>
        <p:spPr>
          <a:xfrm xmlns:a="http://schemas.openxmlformats.org/drawingml/2006/main">
            <a:off x="400050" y="1857375"/>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A day-care coordinator checking whether the records and authorisations for a cancer visit are complete.</a:t>
            </a:r>
          </a:p>
        </p:txBody>
      </p:sp>
      <p:sp>
        <p:nvSpPr>
          <p:cNvPr id="69" name="">
            <a:extLst xmlns:a="http://schemas.openxmlformats.org/drawingml/2006/main">
              <a:ext uri="{FF2B5EF4-FFF2-40B4-BE49-F238E27FC236}">
                <a16:creationId xmlns:a16="http://schemas.microsoft.com/office/drawing/2014/main" id="{0F08B8BD-C095-4AD2-85DC-B28D77D82C56}"/>
              </a:ext>
            </a:extLst>
          </p:cNvPr>
          <p:cNvSpPr>
            <a:spLocks xmlns:a="http://schemas.openxmlformats.org/drawingml/2006/main" noGrp="1"/>
          </p:cNvSpPr>
          <p:nvPr/>
        </p:nvSpPr>
        <p:spPr>
          <a:xfrm xmlns:a="http://schemas.openxmlformats.org/drawingml/2006/main">
            <a:off x="4667250" y="14287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The work</a:t>
            </a:r>
          </a:p>
        </p:txBody>
      </p:sp>
      <p:sp>
        <p:nvSpPr>
          <p:cNvPr id="70" name="">
            <a:extLst xmlns:a="http://schemas.openxmlformats.org/drawingml/2006/main">
              <a:ext uri="{FF2B5EF4-FFF2-40B4-BE49-F238E27FC236}">
                <a16:creationId xmlns:a16="http://schemas.microsoft.com/office/drawing/2014/main" id="{9BF732C0-DDB1-40F5-B71A-9480467A62CF}"/>
              </a:ext>
            </a:extLst>
          </p:cNvPr>
          <p:cNvSpPr>
            <a:spLocks xmlns:a="http://schemas.openxmlformats.org/drawingml/2006/main" noGrp="1"/>
          </p:cNvSpPr>
          <p:nvPr/>
        </p:nvSpPr>
        <p:spPr>
          <a:xfrm xmlns:a="http://schemas.openxmlformats.org/drawingml/2006/main">
            <a:off x="4667250" y="1857375"/>
            <a:ext cx="3905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Reconcile structured records with reports and coverage letters. Identify missing and conflicting evidence. Prepare a follow-up for the treating practitioner.</a:t>
            </a:r>
          </a:p>
        </p:txBody>
      </p:sp>
      <p:sp>
        <p:nvSpPr>
          <p:cNvPr id="71" name="">
            <a:extLst xmlns:a="http://schemas.openxmlformats.org/drawingml/2006/main">
              <a:ext uri="{FF2B5EF4-FFF2-40B4-BE49-F238E27FC236}">
                <a16:creationId xmlns:a16="http://schemas.microsoft.com/office/drawing/2014/main" id="{73B1AAB1-E942-443B-AF10-F39432636CD4}"/>
              </a:ext>
            </a:extLst>
          </p:cNvPr>
          <p:cNvSpPr>
            <a:spLocks xmlns:a="http://schemas.openxmlformats.org/drawingml/2006/main" noGrp="1"/>
          </p:cNvSpPr>
          <p:nvPr/>
        </p:nvSpPr>
        <p:spPr>
          <a:xfrm xmlns:a="http://schemas.openxmlformats.org/drawingml/2006/main">
            <a:off x="400050" y="3667125"/>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Manrope SemiBold"/>
                <a:ea typeface="Manrope SemiBold"/>
                <a:cs typeface="Manrope SemiBold"/>
              </a:defRPr>
            </a:pPr>
            <a:r>
              <a:rPr sz="2100" b="1">
                <a:solidFill>
                  <a:srgbClr val="142735"/>
                </a:solidFill>
                <a:latin typeface="Manrope SemiBold"/>
                <a:ea typeface="Manrope SemiBold"/>
                <a:cs typeface="Manrope SemiBold"/>
              </a:rPr>
              <a:t>SAARTHI makes every record check traceable to a versioned SQL rule and its source.</a:t>
            </a:r>
          </a:p>
        </p:txBody>
      </p:sp>
      <p:sp>
        <p:nvSpPr>
          <p:cNvPr id="72" name="">
            <a:extLst xmlns:a="http://schemas.openxmlformats.org/drawingml/2006/main">
              <a:ext uri="{FF2B5EF4-FFF2-40B4-BE49-F238E27FC236}">
                <a16:creationId xmlns:a16="http://schemas.microsoft.com/office/drawing/2014/main" id="{D25894AF-94F4-4CA7-A817-7504D798DB6F}"/>
              </a:ext>
            </a:extLst>
          </p:cNvPr>
          <p:cNvSpPr>
            <a:spLocks xmlns:a="http://schemas.openxmlformats.org/drawingml/2006/main" noGrp="1"/>
          </p:cNvSpPr>
          <p:nvPr/>
        </p:nvSpPr>
        <p:spPr>
          <a:xfrm xmlns:a="http://schemas.openxmlformats.org/drawingml/2006/main">
            <a:off x="400050" y="455295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42735"/>
                </a:solidFill>
                <a:latin typeface="Manrope SemiBold"/>
                <a:ea typeface="Manrope SemiBold"/>
                <a:cs typeface="Manrope SemiBold"/>
              </a:defRPr>
            </a:pPr>
            <a:r>
              <a:rPr sz="1275" b="0">
                <a:solidFill>
                  <a:srgbClr val="142735"/>
                </a:solidFill>
                <a:latin typeface="Manrope SemiBold"/>
                <a:ea typeface="Manrope SemiBold"/>
                <a:cs typeface="Manrope SemiBold"/>
              </a:rPr>
              <a:t>Clinical judgment stays with the treating practitioner. Synthetic patients only.</a:t>
            </a:r>
          </a:p>
        </p:txBody>
      </p:sp>
    </p:spTree>
    <p:extLst>
      <p:ext uri="{BB962C8B-B14F-4D97-AF65-F5344CB8AC3E}">
        <p14:creationId xmlns:p14="http://schemas.microsoft.com/office/powerpoint/2010/main" val="212813238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6" name="Google Shape;69;p15"/>
          <p:cNvPicPr>
            <a:picLocks xmlns:a="http://schemas.openxmlformats.org/drawingml/2006/main" noChangeAspect="1"/>
          </p:cNvPicPr>
          <p:nvPr/>
        </p:nvPicPr>
        <p:blipFill rotWithShape="1">
          <a:blip xmlns:r="http://schemas.openxmlformats.org/officeDocument/2006/relationships" xmlns:a="http://schemas.openxmlformats.org/drawingml/2006/main" r:embed="R7f41b82cdc534b8a">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2" name="">
            <a:extLst xmlns:a="http://schemas.openxmlformats.org/drawingml/2006/main">
              <a:ext uri="{FF2B5EF4-FFF2-40B4-BE49-F238E27FC236}">
                <a16:creationId xmlns:a16="http://schemas.microsoft.com/office/drawing/2014/main" id="{C249D408-9817-4112-AD9C-F2711FAF06FD}"/>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Evidence architecture</a:t>
            </a:r>
          </a:p>
        </p:txBody>
      </p:sp>
      <p:sp>
        <p:nvSpPr>
          <p:cNvPr id="3" name="">
            <a:extLst xmlns:a="http://schemas.openxmlformats.org/drawingml/2006/main">
              <a:ext uri="{FF2B5EF4-FFF2-40B4-BE49-F238E27FC236}">
                <a16:creationId xmlns:a16="http://schemas.microsoft.com/office/drawing/2014/main" id="{9DAD1A6F-E048-4246-B816-00F164392851}"/>
              </a:ext>
            </a:extLst>
          </p:cNvPr>
          <p:cNvSpPr>
            <a:spLocks xmlns:a="http://schemas.openxmlformats.org/drawingml/2006/main" noGrp="1"/>
          </p:cNvSpPr>
          <p:nvPr/>
        </p:nvSpPr>
        <p:spPr>
          <a:xfrm xmlns:a="http://schemas.openxmlformats.org/drawingml/2006/main">
            <a:off x="400050" y="14287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Structured records</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EHR · FHIR · claims</a:t>
            </a:r>
          </a:p>
        </p:txBody>
      </p:sp>
      <p:sp>
        <p:nvSpPr>
          <p:cNvPr id="4" name="">
            <a:extLst xmlns:a="http://schemas.openxmlformats.org/drawingml/2006/main">
              <a:ext uri="{FF2B5EF4-FFF2-40B4-BE49-F238E27FC236}">
                <a16:creationId xmlns:a16="http://schemas.microsoft.com/office/drawing/2014/main" id="{2C9A861D-6390-4315-9213-E74D43D187ED}"/>
              </a:ext>
            </a:extLst>
          </p:cNvPr>
          <p:cNvSpPr>
            <a:spLocks xmlns:a="http://schemas.openxmlformats.org/drawingml/2006/main" noGrp="1"/>
          </p:cNvSpPr>
          <p:nvPr/>
        </p:nvSpPr>
        <p:spPr>
          <a:xfrm xmlns:a="http://schemas.openxmlformats.org/drawingml/2006/main">
            <a:off x="3333750" y="1428750"/>
            <a:ext cx="2476500"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Snowflake SQL</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Events + versioned rules</a:t>
            </a:r>
          </a:p>
        </p:txBody>
      </p:sp>
      <p:sp>
        <p:nvSpPr>
          <p:cNvPr id="5" name="">
            <a:extLst xmlns:a="http://schemas.openxmlformats.org/drawingml/2006/main">
              <a:ext uri="{FF2B5EF4-FFF2-40B4-BE49-F238E27FC236}">
                <a16:creationId xmlns:a16="http://schemas.microsoft.com/office/drawing/2014/main" id="{2678A17A-E776-4DCF-BA24-CBCCADAC84DF}"/>
              </a:ext>
            </a:extLst>
          </p:cNvPr>
          <p:cNvSpPr>
            <a:spLocks xmlns:a="http://schemas.openxmlformats.org/drawingml/2006/main" noGrp="1"/>
          </p:cNvSpPr>
          <p:nvPr/>
        </p:nvSpPr>
        <p:spPr>
          <a:xfrm xmlns:a="http://schemas.openxmlformats.org/drawingml/2006/main">
            <a:off x="6400800" y="14287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Guarded record answer</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Scope + clocks + validator</a:t>
            </a:r>
          </a:p>
        </p:txBody>
      </p:sp>
      <p:sp>
        <p:nvSpPr>
          <p:cNvPr id="6" name="">
            <a:extLst xmlns:a="http://schemas.openxmlformats.org/drawingml/2006/main">
              <a:ext uri="{FF2B5EF4-FFF2-40B4-BE49-F238E27FC236}">
                <a16:creationId xmlns:a16="http://schemas.microsoft.com/office/drawing/2014/main" id="{9B1E8558-8281-4EA5-A8EA-39F22BC8E56E}"/>
              </a:ext>
            </a:extLst>
          </p:cNvPr>
          <p:cNvSpPr>
            <a:spLocks xmlns:a="http://schemas.openxmlformats.org/drawingml/2006/main" noGrp="1"/>
          </p:cNvSpPr>
          <p:nvPr/>
        </p:nvSpPr>
        <p:spPr>
          <a:xfrm xmlns:a="http://schemas.openxmlformats.org/drawingml/2006/main">
            <a:off x="400050" y="26479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Reports and letters</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Synthetic PDFs</a:t>
            </a:r>
          </a:p>
        </p:txBody>
      </p:sp>
      <p:sp>
        <p:nvSpPr>
          <p:cNvPr id="7" name="">
            <a:extLst xmlns:a="http://schemas.openxmlformats.org/drawingml/2006/main">
              <a:ext uri="{FF2B5EF4-FFF2-40B4-BE49-F238E27FC236}">
                <a16:creationId xmlns:a16="http://schemas.microsoft.com/office/drawing/2014/main" id="{72310E47-D8BE-4CA9-98F7-BFEAB488DA34}"/>
              </a:ext>
            </a:extLst>
          </p:cNvPr>
          <p:cNvSpPr>
            <a:spLocks xmlns:a="http://schemas.openxmlformats.org/drawingml/2006/main" noGrp="1"/>
          </p:cNvSpPr>
          <p:nvPr/>
        </p:nvSpPr>
        <p:spPr>
          <a:xfrm xmlns:a="http://schemas.openxmlformats.org/drawingml/2006/main">
            <a:off x="3333750" y="2647950"/>
            <a:ext cx="2476500"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Two-family extraction</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Llama + Claude Haiku</a:t>
            </a:r>
          </a:p>
        </p:txBody>
      </p:sp>
      <p:sp>
        <p:nvSpPr>
          <p:cNvPr id="8" name="">
            <a:extLst xmlns:a="http://schemas.openxmlformats.org/drawingml/2006/main">
              <a:ext uri="{FF2B5EF4-FFF2-40B4-BE49-F238E27FC236}">
                <a16:creationId xmlns:a16="http://schemas.microsoft.com/office/drawing/2014/main" id="{ABFD9B7E-2DB7-4581-9714-DB76C388CD19}"/>
              </a:ext>
            </a:extLst>
          </p:cNvPr>
          <p:cNvSpPr>
            <a:spLocks xmlns:a="http://schemas.openxmlformats.org/drawingml/2006/main" noGrp="1"/>
          </p:cNvSpPr>
          <p:nvPr/>
        </p:nvSpPr>
        <p:spPr>
          <a:xfrm xmlns:a="http://schemas.openxmlformats.org/drawingml/2006/main">
            <a:off x="6400800" y="2647950"/>
            <a:ext cx="2333625" cy="762000"/>
          </a:xfrm>
          <a:prstGeom xmlns:a="http://schemas.openxmlformats.org/drawingml/2006/main" prst="rect">
            <a:avLst/>
          </a:prstGeom>
          <a:solidFill xmlns:a="http://schemas.openxmlformats.org/drawingml/2006/main">
            <a:srgbClr val="F0F8FC"/>
          </a:solidFill>
          <a:ln xmlns:a="http://schemas.openxmlformats.org/drawingml/2006/main" w="9525">
            <a:solidFill>
              <a:srgbClr val="249BCC"/>
            </a:solidFill>
          </a:ln>
        </p:spPr>
        <p:txBody>
          <a:bodyPr xmlns:a="http://schemas.openxmlformats.org/drawingml/2006/main">
            <a:noAutofit/>
          </a:bodyPr>
          <a:lstStyle xmlns:a="http://schemas.openxmlformats.org/drawingml/2006/main"/>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Coordinator workspace</a:t>
            </a:r>
          </a:p>
          <a:p xmlns:a="http://schemas.openxmlformats.org/drawingml/2006/main">
            <a:pPr>
              <a:defRPr sz="1500" b="1">
                <a:solidFill>
                  <a:srgbClr val="142735"/>
                </a:solidFill>
                <a:latin typeface="Manrope SemiBold"/>
                <a:ea typeface="Manrope SemiBold"/>
                <a:cs typeface="Manrope SemiBold"/>
              </a:defRPr>
            </a:pPr>
            <a:r>
              <a:rPr sz="1500" b="1">
                <a:solidFill>
                  <a:srgbClr val="142735"/>
                </a:solidFill>
                <a:latin typeface="Manrope SemiBold"/>
                <a:ea typeface="Manrope SemiBold"/>
                <a:cs typeface="Manrope SemiBold"/>
              </a:rPr>
              <a:t>Sources · tasks · receipts</a:t>
            </a:r>
          </a:p>
        </p:txBody>
      </p:sp>
      <p:sp>
        <p:nvSpPr>
          <p:cNvPr id="9" name="">
            <a:extLst xmlns:a="http://schemas.openxmlformats.org/drawingml/2006/main">
              <a:ext uri="{FF2B5EF4-FFF2-40B4-BE49-F238E27FC236}">
                <a16:creationId xmlns:a16="http://schemas.microsoft.com/office/drawing/2014/main" id="{219DA23C-5C49-4A98-9EE7-DFE9CC0927BD}"/>
              </a:ext>
            </a:extLst>
          </p:cNvPr>
          <p:cNvSpPr>
            <a:spLocks xmlns:a="http://schemas.openxmlformats.org/drawingml/2006/main" noGrp="1"/>
          </p:cNvSpPr>
          <p:nvPr/>
        </p:nvSpPr>
        <p:spPr>
          <a:xfrm xmlns:a="http://schemas.openxmlformats.org/drawingml/2006/main">
            <a:off x="2809875" y="16859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E11083-B3F6-43F4-BDBC-F950C35AE747}"/>
              </a:ext>
            </a:extLst>
          </p:cNvPr>
          <p:cNvSpPr>
            <a:spLocks xmlns:a="http://schemas.openxmlformats.org/drawingml/2006/main" noGrp="1"/>
          </p:cNvSpPr>
          <p:nvPr/>
        </p:nvSpPr>
        <p:spPr>
          <a:xfrm xmlns:a="http://schemas.openxmlformats.org/drawingml/2006/main">
            <a:off x="5886450" y="16859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4498F36-405F-4468-A125-3CA9E8DF144C}"/>
              </a:ext>
            </a:extLst>
          </p:cNvPr>
          <p:cNvSpPr>
            <a:spLocks xmlns:a="http://schemas.openxmlformats.org/drawingml/2006/main" noGrp="1"/>
          </p:cNvSpPr>
          <p:nvPr/>
        </p:nvSpPr>
        <p:spPr>
          <a:xfrm xmlns:a="http://schemas.openxmlformats.org/drawingml/2006/main">
            <a:off x="2809875" y="2905125"/>
            <a:ext cx="428625" cy="171450"/>
          </a:xfrm>
          <a:prstGeom xmlns:a="http://schemas.openxmlformats.org/drawingml/2006/main" prst="rightArrow">
            <a:avLst/>
          </a:prstGeom>
          <a:solidFill xmlns:a="http://schemas.openxmlformats.org/drawingml/2006/main">
            <a:srgbClr val="249BC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A261C19-8CE4-4071-9524-93F6078608E4}"/>
              </a:ext>
            </a:extLst>
          </p:cNvPr>
          <p:cNvSpPr>
            <a:spLocks xmlns:a="http://schemas.openxmlformats.org/drawingml/2006/main" noGrp="1"/>
          </p:cNvSpPr>
          <p:nvPr/>
        </p:nvSpPr>
        <p:spPr>
          <a:xfrm xmlns:a="http://schemas.openxmlformats.org/drawingml/2006/main">
            <a:off x="4438650" y="2257425"/>
            <a:ext cx="209550" cy="314325"/>
          </a:xfrm>
          <a:prstGeom xmlns:a="http://schemas.openxmlformats.org/drawingml/2006/main" prst="upArrow">
            <a:avLst/>
          </a:prstGeom>
          <a:solidFill xmlns:a="http://schemas.openxmlformats.org/drawingml/2006/main">
            <a:srgbClr val="249BC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5BF08C-AA74-4DCF-901E-F49107721D24}"/>
              </a:ext>
            </a:extLst>
          </p:cNvPr>
          <p:cNvSpPr>
            <a:spLocks xmlns:a="http://schemas.openxmlformats.org/drawingml/2006/main" noGrp="1"/>
          </p:cNvSpPr>
          <p:nvPr/>
        </p:nvSpPr>
        <p:spPr>
          <a:xfrm xmlns:a="http://schemas.openxmlformats.org/drawingml/2006/main">
            <a:off x="7477125" y="2257425"/>
            <a:ext cx="209550" cy="314325"/>
          </a:xfrm>
          <a:prstGeom xmlns:a="http://schemas.openxmlformats.org/drawingml/2006/main" prst="downArrow">
            <a:avLst/>
          </a:prstGeom>
          <a:solidFill xmlns:a="http://schemas.openxmlformats.org/drawingml/2006/main">
            <a:srgbClr val="249BC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8770DCA-1E27-49BD-8511-E77392687B5F}"/>
              </a:ext>
            </a:extLst>
          </p:cNvPr>
          <p:cNvSpPr>
            <a:spLocks xmlns:a="http://schemas.openxmlformats.org/drawingml/2006/main" noGrp="1"/>
          </p:cNvSpPr>
          <p:nvPr/>
        </p:nvSpPr>
        <p:spPr>
          <a:xfrm xmlns:a="http://schemas.openxmlformats.org/drawingml/2006/main">
            <a:off x="400050" y="369570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2735"/>
                </a:solidFill>
                <a:latin typeface="Manrope SemiBold"/>
                <a:ea typeface="Manrope SemiBold"/>
                <a:cs typeface="Manrope SemiBold"/>
              </a:defRPr>
            </a:pPr>
            <a:r>
              <a:rPr sz="1575" b="1">
                <a:solidFill>
                  <a:srgbClr val="142735"/>
                </a:solidFill>
                <a:latin typeface="Manrope SemiBold"/>
                <a:ea typeface="Manrope SemiBold"/>
                <a:cs typeface="Manrope SemiBold"/>
              </a:rPr>
              <a:t>CoCo lifecycle evidence: planning, development, execution and testing</a:t>
            </a:r>
          </a:p>
        </p:txBody>
      </p:sp>
      <p:sp>
        <p:nvSpPr>
          <p:cNvPr id="15" name="">
            <a:extLst xmlns:a="http://schemas.openxmlformats.org/drawingml/2006/main">
              <a:ext uri="{FF2B5EF4-FFF2-40B4-BE49-F238E27FC236}">
                <a16:creationId xmlns:a16="http://schemas.microsoft.com/office/drawing/2014/main" id="{6AA626EF-1BEF-4BA3-9062-46B8592934B0}"/>
              </a:ext>
            </a:extLst>
          </p:cNvPr>
          <p:cNvSpPr>
            <a:spLocks xmlns:a="http://schemas.openxmlformats.org/drawingml/2006/main" noGrp="1"/>
          </p:cNvSpPr>
          <p:nvPr/>
        </p:nvSpPr>
        <p:spPr>
          <a:xfrm xmlns:a="http://schemas.openxmlformats.org/drawingml/2006/main">
            <a:off x="400050" y="41243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42735"/>
                </a:solidFill>
                <a:latin typeface="Manrope SemiBold"/>
                <a:ea typeface="Manrope SemiBold"/>
                <a:cs typeface="Manrope SemiBold"/>
              </a:defRPr>
            </a:pPr>
            <a:r>
              <a:rPr sz="1425" b="0">
                <a:solidFill>
                  <a:srgbClr val="142735"/>
                </a:solidFill>
                <a:latin typeface="Manrope SemiBold"/>
                <a:ea typeface="Manrope SemiBold"/>
                <a:cs typeface="Manrope SemiBold"/>
              </a:rPr>
              <a:t>Authored skills: question routing, evidence reconciliation, rule use and retrieval.</a:t>
            </a:r>
          </a:p>
          <a:p xmlns:a="http://schemas.openxmlformats.org/drawingml/2006/main">
            <a:pPr>
              <a:defRPr sz="1425" b="0">
                <a:solidFill>
                  <a:srgbClr val="142735"/>
                </a:solidFill>
                <a:latin typeface="Manrope SemiBold"/>
                <a:ea typeface="Manrope SemiBold"/>
                <a:cs typeface="Manrope SemiBold"/>
              </a:defRPr>
            </a:pPr>
            <a:r>
              <a:rPr sz="1425" b="0">
                <a:solidFill>
                  <a:srgbClr val="142735"/>
                </a:solidFill>
                <a:latin typeface="Manrope SemiBold"/>
                <a:ea typeface="Manrope SemiBold"/>
                <a:cs typeface="Manrope SemiBold"/>
              </a:rPr>
              <a:t>Patient and reference corpora use separate search services.</a:t>
            </a:r>
          </a:p>
        </p:txBody>
      </p:sp>
    </p:spTree>
    <p:extLst>
      <p:ext uri="{BB962C8B-B14F-4D97-AF65-F5344CB8AC3E}">
        <p14:creationId xmlns:p14="http://schemas.microsoft.com/office/powerpoint/2010/main" val="7268191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Google Shape;74;p16"/>
          <p:cNvPicPr>
            <a:picLocks xmlns:a="http://schemas.openxmlformats.org/drawingml/2006/main" noChangeAspect="1"/>
          </p:cNvPicPr>
          <p:nvPr/>
        </p:nvPicPr>
        <p:blipFill rotWithShape="1">
          <a:blip xmlns:r="http://schemas.openxmlformats.org/officeDocument/2006/relationships" xmlns:a="http://schemas.openxmlformats.org/drawingml/2006/main" r:embed="Rf7afb93bdf4a444e">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2" name="">
            <a:extLst xmlns:a="http://schemas.openxmlformats.org/drawingml/2006/main">
              <a:ext uri="{FF2B5EF4-FFF2-40B4-BE49-F238E27FC236}">
                <a16:creationId xmlns:a16="http://schemas.microsoft.com/office/drawing/2014/main" id="{DCE9D318-BD2B-4832-B218-84F47FD1B9B7}"/>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Measured engineering evidence</a:t>
            </a:r>
          </a:p>
        </p:txBody>
      </p:sp>
      <p:sp>
        <p:nvSpPr>
          <p:cNvPr id="3" name="">
            <a:extLst xmlns:a="http://schemas.openxmlformats.org/drawingml/2006/main">
              <a:ext uri="{FF2B5EF4-FFF2-40B4-BE49-F238E27FC236}">
                <a16:creationId xmlns:a16="http://schemas.microsoft.com/office/drawing/2014/main" id="{74A62FEF-89B9-4284-89B3-E95B0AA192F4}"/>
              </a:ext>
            </a:extLst>
          </p:cNvPr>
          <p:cNvSpPr>
            <a:spLocks xmlns:a="http://schemas.openxmlformats.org/drawingml/2006/main" noGrp="1"/>
          </p:cNvSpPr>
          <p:nvPr/>
        </p:nvSpPr>
        <p:spPr>
          <a:xfrm xmlns:a="http://schemas.openxmlformats.org/drawingml/2006/main">
            <a:off x="400050" y="1428750"/>
            <a:ext cx="381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735"/>
                </a:solidFill>
                <a:latin typeface="Manrope SemiBold"/>
                <a:ea typeface="Manrope SemiBold"/>
                <a:cs typeface="Manrope SemiBold"/>
              </a:defRPr>
            </a:pPr>
            <a:r>
              <a:rPr sz="3450" b="1">
                <a:solidFill>
                  <a:srgbClr val="142735"/>
                </a:solidFill>
                <a:latin typeface="Manrope SemiBold"/>
                <a:ea typeface="Manrope SemiBold"/>
                <a:cs typeface="Manrope SemiBold"/>
              </a:rPr>
              <a:t>291 / 291</a:t>
            </a:r>
          </a:p>
        </p:txBody>
      </p:sp>
      <p:sp>
        <p:nvSpPr>
          <p:cNvPr id="4" name="">
            <a:extLst xmlns:a="http://schemas.openxmlformats.org/drawingml/2006/main">
              <a:ext uri="{FF2B5EF4-FFF2-40B4-BE49-F238E27FC236}">
                <a16:creationId xmlns:a16="http://schemas.microsoft.com/office/drawing/2014/main" id="{15E68BBB-094D-4F71-82CA-9FF1DE443FD3}"/>
              </a:ext>
            </a:extLst>
          </p:cNvPr>
          <p:cNvSpPr>
            <a:spLocks xmlns:a="http://schemas.openxmlformats.org/drawingml/2006/main" noGrp="1"/>
          </p:cNvSpPr>
          <p:nvPr/>
        </p:nvSpPr>
        <p:spPr>
          <a:xfrm xmlns:a="http://schemas.openxmlformats.org/drawingml/2006/main">
            <a:off x="400050" y="2095500"/>
            <a:ext cx="381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Web checks passed</a:t>
            </a:r>
          </a:p>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41 distinct fixture browser checks passed</a:t>
            </a:r>
          </a:p>
        </p:txBody>
      </p:sp>
      <p:sp>
        <p:nvSpPr>
          <p:cNvPr id="5" name="">
            <a:extLst xmlns:a="http://schemas.openxmlformats.org/drawingml/2006/main">
              <a:ext uri="{FF2B5EF4-FFF2-40B4-BE49-F238E27FC236}">
                <a16:creationId xmlns:a16="http://schemas.microsoft.com/office/drawing/2014/main" id="{EBA08C2D-FF72-4E0D-B669-BD1AAFDF21DB}"/>
              </a:ext>
            </a:extLst>
          </p:cNvPr>
          <p:cNvSpPr>
            <a:spLocks xmlns:a="http://schemas.openxmlformats.org/drawingml/2006/main" noGrp="1"/>
          </p:cNvSpPr>
          <p:nvPr/>
        </p:nvSpPr>
        <p:spPr>
          <a:xfrm xmlns:a="http://schemas.openxmlformats.org/drawingml/2006/main">
            <a:off x="4667250" y="1428750"/>
            <a:ext cx="4000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735"/>
                </a:solidFill>
                <a:latin typeface="Manrope SemiBold"/>
                <a:ea typeface="Manrope SemiBold"/>
                <a:cs typeface="Manrope SemiBold"/>
              </a:defRPr>
            </a:pPr>
            <a:r>
              <a:rPr sz="2250" b="1">
                <a:solidFill>
                  <a:srgbClr val="142735"/>
                </a:solidFill>
                <a:latin typeface="Manrope SemiBold"/>
                <a:ea typeface="Manrope SemiBold"/>
                <a:cs typeface="Manrope SemiBold"/>
              </a:rPr>
              <a:t>684 passed · 14 skipped</a:t>
            </a:r>
          </a:p>
        </p:txBody>
      </p:sp>
      <p:sp>
        <p:nvSpPr>
          <p:cNvPr id="6" name="">
            <a:extLst xmlns:a="http://schemas.openxmlformats.org/drawingml/2006/main">
              <a:ext uri="{FF2B5EF4-FFF2-40B4-BE49-F238E27FC236}">
                <a16:creationId xmlns:a16="http://schemas.microsoft.com/office/drawing/2014/main" id="{2DB0B0A2-C5FC-4D6E-9182-6445F16D69D1}"/>
              </a:ext>
            </a:extLst>
          </p:cNvPr>
          <p:cNvSpPr>
            <a:spLocks xmlns:a="http://schemas.openxmlformats.org/drawingml/2006/main" noGrp="1"/>
          </p:cNvSpPr>
          <p:nvPr/>
        </p:nvSpPr>
        <p:spPr>
          <a:xfrm xmlns:a="http://schemas.openxmlformats.org/drawingml/2006/main">
            <a:off x="4667250" y="20955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Python checks on current working tree</a:t>
            </a:r>
          </a:p>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Typecheck and production build passed</a:t>
            </a:r>
          </a:p>
        </p:txBody>
      </p:sp>
      <p:sp>
        <p:nvSpPr>
          <p:cNvPr id="7" name="">
            <a:extLst xmlns:a="http://schemas.openxmlformats.org/drawingml/2006/main">
              <a:ext uri="{FF2B5EF4-FFF2-40B4-BE49-F238E27FC236}">
                <a16:creationId xmlns:a16="http://schemas.microsoft.com/office/drawing/2014/main" id="{350DB61C-BFF1-496E-83FD-FEA21123FDCF}"/>
              </a:ext>
            </a:extLst>
          </p:cNvPr>
          <p:cNvSpPr>
            <a:spLocks xmlns:a="http://schemas.openxmlformats.org/drawingml/2006/main" noGrp="1"/>
          </p:cNvSpPr>
          <p:nvPr/>
        </p:nvSpPr>
        <p:spPr>
          <a:xfrm xmlns:a="http://schemas.openxmlformats.org/drawingml/2006/main">
            <a:off x="400050" y="3124200"/>
            <a:ext cx="8191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735"/>
                </a:solidFill>
                <a:latin typeface="Manrope SemiBold"/>
                <a:ea typeface="Manrope SemiBold"/>
                <a:cs typeface="Manrope SemiBold"/>
              </a:defRPr>
            </a:pPr>
            <a:r>
              <a:rPr sz="2100" b="1">
                <a:solidFill>
                  <a:srgbClr val="142735"/>
                </a:solidFill>
                <a:latin typeface="Manrope SemiBold"/>
                <a:ea typeface="Manrope SemiBold"/>
                <a:cs typeface="Manrope SemiBold"/>
              </a:rPr>
              <a:t>Live guarded answer and clinical refusal</a:t>
            </a:r>
          </a:p>
        </p:txBody>
      </p:sp>
      <p:sp>
        <p:nvSpPr>
          <p:cNvPr id="8" name="">
            <a:extLst xmlns:a="http://schemas.openxmlformats.org/drawingml/2006/main">
              <a:ext uri="{FF2B5EF4-FFF2-40B4-BE49-F238E27FC236}">
                <a16:creationId xmlns:a16="http://schemas.microsoft.com/office/drawing/2014/main" id="{7102993D-EFBB-4426-94C5-805357497BBE}"/>
              </a:ext>
            </a:extLst>
          </p:cNvPr>
          <p:cNvSpPr>
            <a:spLocks xmlns:a="http://schemas.openxmlformats.org/drawingml/2006/main" noGrp="1"/>
          </p:cNvSpPr>
          <p:nvPr/>
        </p:nvSpPr>
        <p:spPr>
          <a:xfrm xmlns:a="http://schemas.openxmlformats.org/drawingml/2006/main">
            <a:off x="400050" y="3667125"/>
            <a:ext cx="828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42735"/>
                </a:solidFill>
                <a:latin typeface="Manrope SemiBold"/>
                <a:ea typeface="Manrope SemiBold"/>
                <a:cs typeface="Manrope SemiBold"/>
              </a:defRPr>
            </a:pPr>
            <a:r>
              <a:rPr sz="1575" b="0">
                <a:solidFill>
                  <a:srgbClr val="142735"/>
                </a:solidFill>
                <a:latin typeface="Manrope SemiBold"/>
                <a:ea typeface="Manrope SemiBold"/>
                <a:cs typeface="Manrope SemiBold"/>
              </a:rPr>
              <a:t>NY64016: cited records and refusal. A treatment claim was replaced by its SQL record; foreign-patient evidence was stripped.</a:t>
            </a:r>
          </a:p>
        </p:txBody>
      </p:sp>
      <p:sp>
        <p:nvSpPr>
          <p:cNvPr id="9" name="">
            <a:extLst xmlns:a="http://schemas.openxmlformats.org/drawingml/2006/main">
              <a:ext uri="{FF2B5EF4-FFF2-40B4-BE49-F238E27FC236}">
                <a16:creationId xmlns:a16="http://schemas.microsoft.com/office/drawing/2014/main" id="{9C969412-7AD5-44AF-97CD-1F5401CFE3C8}"/>
              </a:ext>
            </a:extLst>
          </p:cNvPr>
          <p:cNvSpPr>
            <a:spLocks xmlns:a="http://schemas.openxmlformats.org/drawingml/2006/main" noGrp="1"/>
          </p:cNvSpPr>
          <p:nvPr/>
        </p:nvSpPr>
        <p:spPr>
          <a:xfrm xmlns:a="http://schemas.openxmlformats.org/drawingml/2006/main">
            <a:off x="400050" y="4552950"/>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42735"/>
                </a:solidFill>
                <a:latin typeface="Manrope SemiBold"/>
                <a:ea typeface="Manrope SemiBold"/>
                <a:cs typeface="Manrope SemiBold"/>
              </a:defRPr>
            </a:pPr>
            <a:r>
              <a:rPr sz="1275" b="0">
                <a:solidFill>
                  <a:srgbClr val="142735"/>
                </a:solidFill>
                <a:latin typeface="Manrope SemiBold"/>
                <a:ea typeface="Manrope SemiBold"/>
                <a:cs typeface="Manrope SemiBold"/>
              </a:rPr>
              <a:t>30 simulated pairs: median 260s manual vs 123s assisted. Assumptions, not observed operator impact.</a:t>
            </a:r>
          </a:p>
        </p:txBody>
      </p:sp>
    </p:spTree>
    <p:extLst>
      <p:ext uri="{BB962C8B-B14F-4D97-AF65-F5344CB8AC3E}">
        <p14:creationId xmlns:p14="http://schemas.microsoft.com/office/powerpoint/2010/main" val="16513199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0" name="Google Shape;79;p17"/>
          <p:cNvPicPr>
            <a:picLocks xmlns:a="http://schemas.openxmlformats.org/drawingml/2006/main" noChangeAspect="1"/>
          </p:cNvPicPr>
          <p:nvPr/>
        </p:nvPicPr>
        <p:blipFill rotWithShape="1">
          <a:blip xmlns:r="http://schemas.openxmlformats.org/officeDocument/2006/relationships" xmlns:a="http://schemas.openxmlformats.org/drawingml/2006/main" r:embed="Rdf4a2a9658054013">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
        <p:nvSpPr>
          <p:cNvPr id="80" name="Google Shape;80;p17">
            <a:extLst xmlns:a="http://schemas.openxmlformats.org/drawingml/2006/main">
              <a:ext uri="{FF2B5EF4-FFF2-40B4-BE49-F238E27FC236}">
                <a16:creationId xmlns:a16="http://schemas.microsoft.com/office/drawing/2014/main" id="{2FF9BFD5-B01F-4C3E-9AB0-CF4A5C247398}"/>
              </a:ext>
            </a:extLst>
          </p:cNvPr>
          <p:cNvSpPr>
            <a:spLocks xmlns:a="http://schemas.openxmlformats.org/drawingml/2006/main" noGrp="1"/>
          </p:cNvSpPr>
          <p:nvPr/>
        </p:nvSpPr>
        <p:spPr>
          <a:xfrm xmlns:a="http://schemas.openxmlformats.org/drawingml/2006/main">
            <a:off x="315900" y="4478850"/>
            <a:ext cx="8512200" cy="532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p xmlns:a="http://schemas.openxmlformats.org/drawingml/2006/main">
            <a:pPr marL="0" marR="0" lvl="0" indent="0" algn="l">
              <a:lnSpc>
                <a:spcPct val="115000"/>
              </a:lnSpc>
              <a:spcBef>
                <a:spcPts val="0"/>
              </a:spcBef>
              <a:spcAft>
                <a:spcPts val="1200"/>
              </a:spcAft>
              <a:buClr>
                <a:srgbClr val="000000"/>
              </a:buClr>
              <a:buSzPts val="935"/>
              <a:buFont typeface="Arial"/>
              <a:buNone/>
            </a:pPr>
            <a:r>
              <a:rPr sz="900" b="1" i="1" u="none" cap="none">
                <a:solidFill>
                  <a:srgbClr val="202729"/>
                </a:solidFill>
                <a:latin typeface="Manrope"/>
                <a:ea typeface="Manrope"/>
                <a:cs typeface="Manrope"/>
              </a:rPr>
              <a:t/>
            </a:r>
            <a:endParaRPr sz="600" b="0" i="1" u="none" cap="none">
              <a:solidFill>
                <a:srgbClr val="434343"/>
              </a:solidFill>
              <a:latin typeface="Manrope"/>
              <a:ea typeface="Manrope"/>
              <a:cs typeface="Manrope"/>
            </a:endParaRPr>
          </a:p>
        </p:txBody>
      </p:sp>
      <p:sp>
        <p:nvSpPr>
          <p:cNvPr id="82" name="">
            <a:extLst xmlns:a="http://schemas.openxmlformats.org/drawingml/2006/main">
              <a:ext uri="{FF2B5EF4-FFF2-40B4-BE49-F238E27FC236}">
                <a16:creationId xmlns:a16="http://schemas.microsoft.com/office/drawing/2014/main" id="{A24B1F14-4AC6-4F2B-956C-98C3FEF76F51}"/>
              </a:ext>
            </a:extLst>
          </p:cNvPr>
          <p:cNvSpPr>
            <a:spLocks xmlns:a="http://schemas.openxmlformats.org/drawingml/2006/main" noGrp="1"/>
          </p:cNvSpPr>
          <p:nvPr/>
        </p:nvSpPr>
        <p:spPr>
          <a:xfrm xmlns:a="http://schemas.openxmlformats.org/drawingml/2006/main">
            <a:off x="400050" y="685800"/>
            <a:ext cx="828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735"/>
                </a:solidFill>
                <a:latin typeface="Manrope SemiBold"/>
                <a:ea typeface="Manrope SemiBold"/>
                <a:cs typeface="Manrope SemiBold"/>
              </a:defRPr>
            </a:pPr>
            <a:r>
              <a:rPr sz="2550" b="1">
                <a:solidFill>
                  <a:srgbClr val="142735"/>
                </a:solidFill>
                <a:latin typeface="Manrope SemiBold"/>
                <a:ea typeface="Manrope SemiBold"/>
                <a:cs typeface="Manrope SemiBold"/>
              </a:rPr>
              <a:t>Judge walkthrough and release evidence</a:t>
            </a:r>
          </a:p>
        </p:txBody>
      </p:sp>
      <p:sp>
        <p:nvSpPr>
          <p:cNvPr id="83" name="">
            <a:extLst xmlns:a="http://schemas.openxmlformats.org/drawingml/2006/main">
              <a:ext uri="{FF2B5EF4-FFF2-40B4-BE49-F238E27FC236}">
                <a16:creationId xmlns:a16="http://schemas.microsoft.com/office/drawing/2014/main" id="{4FD502F9-8DCB-4894-AD62-6A0D64C0C3C2}"/>
              </a:ext>
            </a:extLst>
          </p:cNvPr>
          <p:cNvSpPr>
            <a:spLocks xmlns:a="http://schemas.openxmlformats.org/drawingml/2006/main" noGrp="1"/>
          </p:cNvSpPr>
          <p:nvPr/>
        </p:nvSpPr>
        <p:spPr>
          <a:xfrm xmlns:a="http://schemas.openxmlformats.org/drawingml/2006/main">
            <a:off x="400050" y="1438275"/>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1   Record check</a:t>
            </a:r>
          </a:p>
        </p:txBody>
      </p:sp>
      <p:sp>
        <p:nvSpPr>
          <p:cNvPr id="84" name="">
            <a:extLst xmlns:a="http://schemas.openxmlformats.org/drawingml/2006/main">
              <a:ext uri="{FF2B5EF4-FFF2-40B4-BE49-F238E27FC236}">
                <a16:creationId xmlns:a16="http://schemas.microsoft.com/office/drawing/2014/main" id="{0CE72071-2326-4AC3-9E43-B1C335375C1E}"/>
              </a:ext>
            </a:extLst>
          </p:cNvPr>
          <p:cNvSpPr>
            <a:spLocks xmlns:a="http://schemas.openxmlformats.org/drawingml/2006/main" noGrp="1"/>
          </p:cNvSpPr>
          <p:nvPr/>
        </p:nvSpPr>
        <p:spPr>
          <a:xfrm xmlns:a="http://schemas.openxmlformats.org/drawingml/2006/main">
            <a:off x="3162300" y="1438275"/>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PAT-DC-04: inspect the SQL rule outcome, then open the exact source.</a:t>
            </a:r>
          </a:p>
        </p:txBody>
      </p:sp>
      <p:sp>
        <p:nvSpPr>
          <p:cNvPr id="85" name="">
            <a:extLst xmlns:a="http://schemas.openxmlformats.org/drawingml/2006/main">
              <a:ext uri="{FF2B5EF4-FFF2-40B4-BE49-F238E27FC236}">
                <a16:creationId xmlns:a16="http://schemas.microsoft.com/office/drawing/2014/main" id="{D9E72431-85E4-4B03-840F-6FB49BE6174E}"/>
              </a:ext>
            </a:extLst>
          </p:cNvPr>
          <p:cNvSpPr>
            <a:spLocks xmlns:a="http://schemas.openxmlformats.org/drawingml/2006/main" noGrp="1"/>
          </p:cNvSpPr>
          <p:nvPr/>
        </p:nvSpPr>
        <p:spPr>
          <a:xfrm xmlns:a="http://schemas.openxmlformats.org/drawingml/2006/main">
            <a:off x="400050" y="23241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735"/>
                </a:solidFill>
                <a:latin typeface="Manrope SemiBold"/>
                <a:ea typeface="Manrope SemiBold"/>
                <a:cs typeface="Manrope SemiBold"/>
              </a:defRPr>
            </a:pPr>
            <a:r>
              <a:rPr sz="1800" b="1">
                <a:solidFill>
                  <a:srgbClr val="142735"/>
                </a:solidFill>
                <a:latin typeface="Manrope SemiBold"/>
                <a:ea typeface="Manrope SemiBold"/>
                <a:cs typeface="Manrope SemiBold"/>
              </a:rPr>
              <a:t>2   Reconciliation</a:t>
            </a:r>
          </a:p>
        </p:txBody>
      </p:sp>
      <p:sp>
        <p:nvSpPr>
          <p:cNvPr id="86" name="">
            <a:extLst xmlns:a="http://schemas.openxmlformats.org/drawingml/2006/main">
              <a:ext uri="{FF2B5EF4-FFF2-40B4-BE49-F238E27FC236}">
                <a16:creationId xmlns:a16="http://schemas.microsoft.com/office/drawing/2014/main" id="{EED16502-8076-45A0-84CE-F982E4D83D87}"/>
              </a:ext>
            </a:extLst>
          </p:cNvPr>
          <p:cNvSpPr>
            <a:spLocks xmlns:a="http://schemas.openxmlformats.org/drawingml/2006/main" noGrp="1"/>
          </p:cNvSpPr>
          <p:nvPr/>
        </p:nvSpPr>
        <p:spPr>
          <a:xfrm xmlns:a="http://schemas.openxmlformats.org/drawingml/2006/main">
            <a:off x="3162300" y="232410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PAT-DC-07: compare authorisation sources, change the cutoff, review follow-up history.</a:t>
            </a:r>
          </a:p>
        </p:txBody>
      </p:sp>
      <p:sp>
        <p:nvSpPr>
          <p:cNvPr id="87" name="">
            <a:extLst xmlns:a="http://schemas.openxmlformats.org/drawingml/2006/main">
              <a:ext uri="{FF2B5EF4-FFF2-40B4-BE49-F238E27FC236}">
                <a16:creationId xmlns:a16="http://schemas.microsoft.com/office/drawing/2014/main" id="{69623F74-9C82-43F0-BCB0-47F2D2121FF3}"/>
              </a:ext>
            </a:extLst>
          </p:cNvPr>
          <p:cNvSpPr>
            <a:spLocks xmlns:a="http://schemas.openxmlformats.org/drawingml/2006/main" noGrp="1"/>
          </p:cNvSpPr>
          <p:nvPr/>
        </p:nvSpPr>
        <p:spPr>
          <a:xfrm xmlns:a="http://schemas.openxmlformats.org/drawingml/2006/main">
            <a:off x="400050" y="34004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735"/>
                </a:solidFill>
                <a:latin typeface="Manrope SemiBold"/>
                <a:ea typeface="Manrope SemiBold"/>
                <a:cs typeface="Manrope SemiBold"/>
              </a:defRPr>
            </a:pPr>
            <a:r>
              <a:rPr sz="1725" b="1">
                <a:solidFill>
                  <a:srgbClr val="142735"/>
                </a:solidFill>
                <a:latin typeface="Manrope SemiBold"/>
                <a:ea typeface="Manrope SemiBold"/>
                <a:cs typeface="Manrope SemiBold"/>
              </a:rPr>
              <a:t>3   Practitioner handoff</a:t>
            </a:r>
          </a:p>
        </p:txBody>
      </p:sp>
      <p:sp>
        <p:nvSpPr>
          <p:cNvPr id="88" name="">
            <a:extLst xmlns:a="http://schemas.openxmlformats.org/drawingml/2006/main">
              <a:ext uri="{FF2B5EF4-FFF2-40B4-BE49-F238E27FC236}">
                <a16:creationId xmlns:a16="http://schemas.microsoft.com/office/drawing/2014/main" id="{61DB46F5-BD6B-485D-AC53-0F7BB545D91A}"/>
              </a:ext>
            </a:extLst>
          </p:cNvPr>
          <p:cNvSpPr>
            <a:spLocks xmlns:a="http://schemas.openxmlformats.org/drawingml/2006/main" noGrp="1"/>
          </p:cNvSpPr>
          <p:nvPr/>
        </p:nvSpPr>
        <p:spPr>
          <a:xfrm xmlns:a="http://schemas.openxmlformats.org/drawingml/2006/main">
            <a:off x="3162300" y="340042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735"/>
                </a:solidFill>
                <a:latin typeface="Manrope SemiBold"/>
                <a:ea typeface="Manrope SemiBold"/>
                <a:cs typeface="Manrope SemiBold"/>
              </a:defRPr>
            </a:pPr>
            <a:r>
              <a:rPr sz="1725" b="0">
                <a:solidFill>
                  <a:srgbClr val="142735"/>
                </a:solidFill>
                <a:latin typeface="Manrope SemiBold"/>
                <a:ea typeface="Manrope SemiBold"/>
                <a:cs typeface="Manrope SemiBold"/>
              </a:rPr>
              <a:t>Ask a record question, inspect citations, then demonstrate clinical-judgment refusal.</a:t>
            </a:r>
          </a:p>
        </p:txBody>
      </p:sp>
      <p:sp>
        <p:nvSpPr>
          <p:cNvPr id="89" name="">
            <a:extLst xmlns:a="http://schemas.openxmlformats.org/drawingml/2006/main">
              <a:ext uri="{FF2B5EF4-FFF2-40B4-BE49-F238E27FC236}">
                <a16:creationId xmlns:a16="http://schemas.microsoft.com/office/drawing/2014/main" id="{485B4342-2168-4343-94B4-25CC49AC63C9}"/>
              </a:ext>
            </a:extLst>
          </p:cNvPr>
          <p:cNvSpPr>
            <a:spLocks xmlns:a="http://schemas.openxmlformats.org/drawingml/2006/main" noGrp="1"/>
          </p:cNvSpPr>
          <p:nvPr/>
        </p:nvSpPr>
        <p:spPr>
          <a:xfrm xmlns:a="http://schemas.openxmlformats.org/drawingml/2006/main">
            <a:off x="400050" y="4438650"/>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42735"/>
                </a:solidFill>
                <a:latin typeface="Manrope SemiBold"/>
                <a:ea typeface="Manrope SemiBold"/>
                <a:cs typeface="Manrope SemiBold"/>
              </a:defRPr>
            </a:pPr>
            <a:r>
              <a:rPr sz="1425" b="1">
                <a:solidFill>
                  <a:srgbClr val="142735"/>
                </a:solidFill>
                <a:latin typeface="Manrope SemiBold"/>
                <a:ea typeface="Manrope SemiBold"/>
                <a:cs typeface="Manrope SemiBold"/>
              </a:rPr>
              <a:t>Source and reproducible checks: github.com/DanushArun/patient-360</a:t>
            </a:r>
          </a:p>
        </p:txBody>
      </p:sp>
    </p:spTree>
    <p:extLst>
      <p:ext uri="{BB962C8B-B14F-4D97-AF65-F5344CB8AC3E}">
        <p14:creationId xmlns:p14="http://schemas.microsoft.com/office/powerpoint/2010/main" val="205745600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Google Shape;85;p18"/>
          <p:cNvPicPr>
            <a:picLocks xmlns:a="http://schemas.openxmlformats.org/drawingml/2006/main" noChangeAspect="1"/>
          </p:cNvPicPr>
          <p:nvPr/>
        </p:nvPicPr>
        <p:blipFill rotWithShape="1">
          <a:blip xmlns:r="http://schemas.openxmlformats.org/officeDocument/2006/relationships" xmlns:a="http://schemas.openxmlformats.org/drawingml/2006/main" r:embed="R500f94a28e03431c">
            <a:alphaModFix/>
          </a:blip>
          <a:srcRect xmlns:a="http://schemas.openxmlformats.org/drawingml/2006/main" l="0" t="0" r="0" b="0"/>
          <a:stretch xmlns:a="http://schemas.openxmlformats.org/drawingml/2006/main"/>
        </p:blipFill>
        <p:spPr>
          <a:xfrm xmlns:a="http://schemas.openxmlformats.org/drawingml/2006/main">
            <a:off x="0" y="0"/>
            <a:ext cx="9144018" cy="51435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945751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2026-10-05T01:50:23.8410000Z</dcterms:created>
  <dcterms:modified xsi:type="dcterms:W3CDTF">2026-10-05T01:50:23.8410000Z</dcterms:modified>
</coreProperties>
</file>